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8b65e947448b2" /><Relationship Type="http://schemas.openxmlformats.org/officeDocument/2006/relationships/extended-properties" Target="/docProps/app.xml" Id="R8dd020a1fb434924" /><Relationship Type="http://schemas.openxmlformats.org/officeDocument/2006/relationships/officeDocument" Target="/ppt/presentation.xml" Id="R3a8a13ea139547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d8b102fa1a4533"/>
  </p:sldMasterIdLst>
  <p:notesMasterIdLst>
    <p:notesMasterId xmlns:r="http://schemas.openxmlformats.org/officeDocument/2006/relationships" r:id="Ra12cf3cfe33a4fec"/>
  </p:notesMasterIdLst>
  <p:sldIdLst>
    <p:sldId xmlns:r="http://schemas.openxmlformats.org/officeDocument/2006/relationships" id="256" r:id="Rc801c4cb6f23456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842f5bf988437b" /><Relationship Type="http://schemas.openxmlformats.org/officeDocument/2006/relationships/slideMaster" Target="/ppt/slideMasters/slideMaster1.xml" Id="R7dd8b102fa1a4533" /><Relationship Type="http://schemas.openxmlformats.org/officeDocument/2006/relationships/notesMaster" Target="/ppt/notesMasters/notesMaster1.xml" Id="Ra12cf3cfe33a4fec" /><Relationship Type="http://schemas.openxmlformats.org/officeDocument/2006/relationships/presProps" Target="/ppt/presProps.xml" Id="Rb3693bb44a5a40f1" /><Relationship Type="http://schemas.openxmlformats.org/officeDocument/2006/relationships/tableStyles" Target="/ppt/tableStyles.xml" Id="R1d536782909841e8" /><Relationship Type="http://schemas.openxmlformats.org/officeDocument/2006/relationships/slide" Target="/ppt/slides/slide1.xml" Id="Rc801c4cb6f2345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55d2ef951346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b9a90d736e422f" /><Relationship Type="http://schemas.openxmlformats.org/officeDocument/2006/relationships/notesMaster" Target="/ppt/notesMasters/notesMaster1.xml" Id="R574d440bfcaf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证据范围截至 2026-09-04。全部数字来自本仓库已有服务器归档；本次只复算记录。</a:t>
            </a:r>
          </a:p>
          <a:p xmlns:a="http://schemas.openxmlformats.org/drawingml/2006/main">
            <a:r>
              <a:t>1. docs/debug/tool_call_streaming_debug_plan.md §2.1/§8/§9.4：8/13 100条DTB中98条被旧检查器标为异常，另2条也有跨child重复生成；8/14两次回放剩余22/100和12/100；8/17删除人工terminal拆分。8/19对应0b641fd的180对中，170条DTB含工具，共265个调用，目标结构异常0，至少49条命中同批收尾。10条no-tool中8条有raw支持模型未生成工具，2条未分类。该阶段为真实MTP环境，不能外推一般分区不变性。</a:t>
            </a:r>
          </a:p>
          <a:p xmlns:a="http://schemas.openxmlformats.org/drawingml/2006/main">
            <a:r>
              <a:t>2. docs/log/perf/agent_tool_call_run04_paired_replay/run_server_01/RESULT.md 与 run_server_02/RESULT.md：非法arguments JSON 133/300降到0/300。run_server_02仍有DTB 1次缺terminal与Vanilla 2次empty-arguments，不能称该轮全部成功。144个final含442次字面&lt;/think&gt;，错误final stop为0。</a:t>
            </a:r>
          </a:p>
          <a:p xmlns:a="http://schemas.openxmlformats.org/drawingml/2006/main">
            <a:r>
              <a:t>3. run_server_03/RESULT.md：60条DTB中2条SSE orchestration error。具体alignment异常由源码及token轨迹高度支持，缺原始traceback。9/3 cc9bfbe结构token-stop重构。</a:t>
            </a:r>
          </a:p>
          <a:p xmlns:a="http://schemas.openxmlformats.org/drawingml/2006/main">
            <a:r>
              <a:t>4. run_server_04_token_stop/RESULT.md：token-stop回放60条DTB无旧编排异常，但47条公开reasoning丢字，268字符。</a:t>
            </a:r>
          </a:p>
          <a:p xmlns:a="http://schemas.openxmlformats.org/drawingml/2006/main">
            <a:r>
              <a:t>5. run_server_04_token_stop/replay2/RESULT.md 与 AUDIT.json：最新120条响应（Vanilla/DTB各60条）工具流协议异常0；60条DTB reasoning共8907字符全部与pre-parser一致。48个mixed terminal尾段344字符/124非边界token ID全部保留。旧parser对同输入恰好丢48个尾段，修复完整链84/84通过；补到1次真实纯[248058]工具边界。</a:t>
            </a:r>
          </a:p>
          <a:p xmlns:a="http://schemas.openxmlformats.org/drawingml/2006/main">
            <a:r>
              <a:t>6. 各轮为重新采样，分母和检验不同。最新两条上下文、各30次/variant，不是完整Agent任务。无probe/iterative/forced-close，不能外推长思考或非流式路径。最新DTB仍有22条语义偏离（含2条模型缺参），Vanilla30条（含1条缺参），不计为框架解析失败但质量仍须验收。最新目录未补完整MTP启动身份及reasoning部署源码hash。历史Vanilla无回归缺口不能追溯关闭。</a:t>
            </a:r>
          </a:p>
          <a:p xmlns:a="http://schemas.openxmlformats.org/drawingml/2006/main">
            <a:r>
              <a:t>7. 详细文字与完整证据索引：docs/report/DTB_Agent集成验证_技术博客.md。后续9场景任务质量与telemetry-off时延回归尚待完成。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52f36565841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f835cac0d24ba4" /><Relationship Type="http://schemas.openxmlformats.org/officeDocument/2006/relationships/slideLayout" Target="/ppt/slideLayouts/slideLayout1.xml" Id="R67353abfee58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353abfee58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a07d80bf4734" /><Relationship Type="http://schemas.openxmlformats.org/officeDocument/2006/relationships/notesSlide" Target="/ppt/notesSlides/notesSlide1.xml" Id="R10cb3d1e3ce6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itle">
            <a:extLst xmlns:a="http://schemas.openxmlformats.org/drawingml/2006/main">
              <a:ext uri="{FF2B5EF4-FFF2-40B4-BE49-F238E27FC236}">
                <a16:creationId xmlns:a16="http://schemas.microsoft.com/office/drawing/2014/main" id="{7BB9DADE-4079-4D7D-A1A5-F0CB7C3F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rPr>
              <a:t>DTB 在 Agent 多轮工具调用中的工程攻关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4C8543-9820-49A5-B64F-EF248BA4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400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2026.08.13 至 09.04  思考边界、流式工具解析与投机解码的兼容验证</a:t>
            </a:r>
          </a:p>
        </p:txBody>
      </p:sp>
      <p:sp>
        <p:nvSpPr>
          <p:cNvPr id="3" name="timeline">
            <a:extLst xmlns:a="http://schemas.openxmlformats.org/drawingml/2006/main">
              <a:ext uri="{FF2B5EF4-FFF2-40B4-BE49-F238E27FC236}">
                <a16:creationId xmlns:a16="http://schemas.microsoft.com/office/drawing/2014/main" id="{F8DECE11-BADD-42F8-9D9C-01280DDF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190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8D8"/>
            </a:solidFill>
          </a:ln>
        </p:spPr>
      </p:sp>
      <p:sp>
        <p:nvSpPr>
          <p:cNvPr id="4" name="date-0">
            <a:extLst xmlns:a="http://schemas.openxmlformats.org/drawingml/2006/main">
              <a:ext uri="{FF2B5EF4-FFF2-40B4-BE49-F238E27FC236}">
                <a16:creationId xmlns:a16="http://schemas.microsoft.com/office/drawing/2014/main" id="{9F620C80-72A0-438B-9954-B5A8606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74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74838"/>
                </a:solidFill>
                <a:latin typeface="Microsoft YaHei"/>
                <a:ea typeface="Microsoft YaHei"/>
                <a:cs typeface="Microsoft YaHei"/>
              </a:rPr>
              <a:t>08.13</a:t>
            </a:r>
          </a:p>
        </p:txBody>
      </p:sp>
      <p:sp>
        <p:nvSpPr>
          <p:cNvPr id="5" name="milestone-0">
            <a:extLst xmlns:a="http://schemas.openxmlformats.org/drawingml/2006/main">
              <a:ext uri="{FF2B5EF4-FFF2-40B4-BE49-F238E27FC236}">
                <a16:creationId xmlns:a16="http://schemas.microsoft.com/office/drawing/2014/main" id="{527C3241-6B47-4E20-90EE-FA9366F4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4838"/>
          </a:solidFill>
          <a:ln xmlns:a="http://schemas.openxmlformats.org/drawingml/2006/main" w="19050">
            <a:solidFill>
              <a:srgbClr val="F9FAFC"/>
            </a:solidFill>
          </a:ln>
        </p:spPr>
      </p:sp>
      <p:sp>
        <p:nvSpPr>
          <p:cNvPr id="6" name="stage-0">
            <a:extLst xmlns:a="http://schemas.openxmlformats.org/drawingml/2006/main">
              <a:ext uri="{FF2B5EF4-FFF2-40B4-BE49-F238E27FC236}">
                <a16:creationId xmlns:a16="http://schemas.microsoft.com/office/drawing/2014/main" id="{75F72BFA-D9BF-48D8-A2E7-253C2430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rPr>
              <a:t>回合边界错位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52692D25-8FE0-498C-A713-BDE24200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22955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XML 泄漏、冗余 role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工具后继续输出正文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识别跨 child 重复生成</a:t>
            </a:r>
          </a:p>
        </p:txBody>
      </p:sp>
      <p:sp>
        <p:nvSpPr>
          <p:cNvPr id="8" name="metric-0">
            <a:extLst xmlns:a="http://schemas.openxmlformats.org/drawingml/2006/main">
              <a:ext uri="{FF2B5EF4-FFF2-40B4-BE49-F238E27FC236}">
                <a16:creationId xmlns:a16="http://schemas.microsoft.com/office/drawing/2014/main" id="{5B761CB0-0219-4A6E-A86B-30FFE07D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74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4838"/>
                </a:solidFill>
                <a:latin typeface="Microsoft YaHei"/>
                <a:ea typeface="Microsoft YaHei"/>
                <a:cs typeface="Microsoft YaHei"/>
              </a:rPr>
              <a:t>98/100 被检出</a:t>
            </a:r>
          </a:p>
        </p:txBody>
      </p:sp>
      <p:sp>
        <p:nvSpPr>
          <p:cNvPr id="9" name="detail-0">
            <a:extLst xmlns:a="http://schemas.openxmlformats.org/drawingml/2006/main">
              <a:ext uri="{FF2B5EF4-FFF2-40B4-BE49-F238E27FC236}">
                <a16:creationId xmlns:a16="http://schemas.microsoft.com/office/drawing/2014/main" id="{5B7ED9BA-AD20-4636-82C3-7EC24AE2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另 2 条漏报重复生成</a:t>
            </a:r>
          </a:p>
        </p:txBody>
      </p:sp>
      <p:sp>
        <p:nvSpPr>
          <p:cNvPr id="10" name="date-1">
            <a:extLst xmlns:a="http://schemas.openxmlformats.org/drawingml/2006/main">
              <a:ext uri="{FF2B5EF4-FFF2-40B4-BE49-F238E27FC236}">
                <a16:creationId xmlns:a16="http://schemas.microsoft.com/office/drawing/2014/main" id="{969F2F78-36B8-49FD-A588-10962FFE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38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08.14–17</a:t>
            </a:r>
          </a:p>
        </p:txBody>
      </p:sp>
      <p:sp>
        <p:nvSpPr>
          <p:cNvPr id="11" name="milestone-1">
            <a:extLst xmlns:a="http://schemas.openxmlformats.org/drawingml/2006/main">
              <a:ext uri="{FF2B5EF4-FFF2-40B4-BE49-F238E27FC236}">
                <a16:creationId xmlns:a16="http://schemas.microsoft.com/office/drawing/2014/main" id="{67BB5185-8E3A-4E9B-8152-B3F96A18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19A"/>
          </a:solidFill>
          <a:ln xmlns:a="http://schemas.openxmlformats.org/drawingml/2006/main" w="19050">
            <a:solidFill>
              <a:srgbClr val="F9FAFC"/>
            </a:solidFill>
          </a:ln>
        </p:spPr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BDF406BF-8510-4000-84E2-235C0309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38475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rPr>
              <a:t>恢复连续生成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2BAC5EB-E2ED-4D97-8849-FAAB37C2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29025"/>
            <a:ext cx="22955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统一思考和工具边界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对齐文本与 token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透传源终止事件</a:t>
            </a:r>
          </a:p>
        </p:txBody>
      </p:sp>
      <p:sp>
        <p:nvSpPr>
          <p:cNvPr id="14" name="metric-1">
            <a:extLst xmlns:a="http://schemas.openxmlformats.org/drawingml/2006/main">
              <a:ext uri="{FF2B5EF4-FFF2-40B4-BE49-F238E27FC236}">
                <a16:creationId xmlns:a16="http://schemas.microsoft.com/office/drawing/2014/main" id="{82908934-BC8A-41DD-B322-D477002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149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22/100</a:t>
            </a:r>
          </a:p>
          <a:p xmlns:a="http://schemas.openxmlformats.org/drawingml/2006/main">
            <a:pPr>
              <a:def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继而 12/100</a:t>
            </a:r>
          </a:p>
        </p:txBody>
      </p:sp>
      <p:sp>
        <p:nvSpPr>
          <p:cNvPr id="15" name="detail-1">
            <a:extLst xmlns:a="http://schemas.openxmlformats.org/drawingml/2006/main">
              <a:ext uri="{FF2B5EF4-FFF2-40B4-BE49-F238E27FC236}">
                <a16:creationId xmlns:a16="http://schemas.microsoft.com/office/drawing/2014/main" id="{D114E09C-24E9-4714-B723-5296407D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主样例剩余异常</a:t>
            </a:r>
          </a:p>
        </p:txBody>
      </p:sp>
      <p:sp>
        <p:nvSpPr>
          <p:cNvPr id="16" name="date-2">
            <a:extLst xmlns:a="http://schemas.openxmlformats.org/drawingml/2006/main">
              <a:ext uri="{FF2B5EF4-FFF2-40B4-BE49-F238E27FC236}">
                <a16:creationId xmlns:a16="http://schemas.microsoft.com/office/drawing/2014/main" id="{3372EE19-6C14-4FD7-9502-C146F663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08.17–19</a:t>
            </a:r>
          </a:p>
        </p:txBody>
      </p:sp>
      <p:sp>
        <p:nvSpPr>
          <p:cNvPr id="17" name="milestone-2">
            <a:extLst xmlns:a="http://schemas.openxmlformats.org/drawingml/2006/main">
              <a:ext uri="{FF2B5EF4-FFF2-40B4-BE49-F238E27FC236}">
                <a16:creationId xmlns:a16="http://schemas.microsoft.com/office/drawing/2014/main" id="{3A3B8AE3-4A8C-47E8-A66D-1170AFDF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19A"/>
          </a:solidFill>
          <a:ln xmlns:a="http://schemas.openxmlformats.org/drawingml/2006/main" w="19050">
            <a:solidFill>
              <a:srgbClr val="F9FAFC"/>
            </a:solidFill>
          </a:ln>
        </p:spPr>
      </p:sp>
      <p:sp>
        <p:nvSpPr>
          <p:cNvPr id="18" name="stage-2">
            <a:extLst xmlns:a="http://schemas.openxmlformats.org/drawingml/2006/main">
              <a:ext uri="{FF2B5EF4-FFF2-40B4-BE49-F238E27FC236}">
                <a16:creationId xmlns:a16="http://schemas.microsoft.com/office/drawing/2014/main" id="{22165A9A-6529-4B0B-BCC7-CB6A2D10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38475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rPr>
              <a:t>修复同批收尾</a:t>
            </a:r>
          </a:p>
        </p:txBody>
      </p:sp>
      <p:sp>
        <p:nvSpPr>
          <p:cNvPr id="19" name="body-2">
            <a:extLst xmlns:a="http://schemas.openxmlformats.org/drawingml/2006/main">
              <a:ext uri="{FF2B5EF4-FFF2-40B4-BE49-F238E27FC236}">
                <a16:creationId xmlns:a16="http://schemas.microsoft.com/office/drawing/2014/main" id="{65DF6539-66BE-4492-B610-F690D4D1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29025"/>
            <a:ext cx="22955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完整 XML 仍缺右括号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同源分片反事实验证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修复 parser 同批收尾</a:t>
            </a:r>
          </a:p>
        </p:txBody>
      </p:sp>
      <p:sp>
        <p:nvSpPr>
          <p:cNvPr id="20" name="metric-2">
            <a:extLst xmlns:a="http://schemas.openxmlformats.org/drawingml/2006/main">
              <a:ext uri="{FF2B5EF4-FFF2-40B4-BE49-F238E27FC236}">
                <a16:creationId xmlns:a16="http://schemas.microsoft.com/office/drawing/2014/main" id="{C32D9C0B-F9E1-49C5-BD8F-DE977CE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149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0/265 调用</a:t>
            </a:r>
          </a:p>
        </p:txBody>
      </p:sp>
      <p:sp>
        <p:nvSpPr>
          <p:cNvPr id="21" name="detail-2">
            <a:extLst xmlns:a="http://schemas.openxmlformats.org/drawingml/2006/main">
              <a:ext uri="{FF2B5EF4-FFF2-40B4-BE49-F238E27FC236}">
                <a16:creationId xmlns:a16="http://schemas.microsoft.com/office/drawing/2014/main" id="{07A43453-3D87-49D5-950E-404D253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055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170 条含工具响应</a:t>
            </a:r>
          </a:p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至少 49 条命中同批收尾</a:t>
            </a:r>
          </a:p>
        </p:txBody>
      </p:sp>
      <p:sp>
        <p:nvSpPr>
          <p:cNvPr id="22" name="date-3">
            <a:extLst xmlns:a="http://schemas.openxmlformats.org/drawingml/2006/main">
              <a:ext uri="{FF2B5EF4-FFF2-40B4-BE49-F238E27FC236}">
                <a16:creationId xmlns:a16="http://schemas.microsoft.com/office/drawing/2014/main" id="{10763ACA-3F25-411E-A34D-2BC6146B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08.31–09.01</a:t>
            </a:r>
          </a:p>
        </p:txBody>
      </p:sp>
      <p:sp>
        <p:nvSpPr>
          <p:cNvPr id="23" name="milestone-3">
            <a:extLst xmlns:a="http://schemas.openxmlformats.org/drawingml/2006/main">
              <a:ext uri="{FF2B5EF4-FFF2-40B4-BE49-F238E27FC236}">
                <a16:creationId xmlns:a16="http://schemas.microsoft.com/office/drawing/2014/main" id="{7C2FC379-5067-40E2-8DFD-66440B8D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19A"/>
          </a:solidFill>
          <a:ln xmlns:a="http://schemas.openxmlformats.org/drawingml/2006/main" w="19050">
            <a:solidFill>
              <a:srgbClr val="F9FAFC"/>
            </a:solidFill>
          </a:ln>
        </p:spPr>
      </p:sp>
      <p:sp>
        <p:nvSpPr>
          <p:cNvPr id="24" name="stage-3">
            <a:extLst xmlns:a="http://schemas.openxmlformats.org/drawingml/2006/main">
              <a:ext uri="{FF2B5EF4-FFF2-40B4-BE49-F238E27FC236}">
                <a16:creationId xmlns:a16="http://schemas.microsoft.com/office/drawing/2014/main" id="{4027EA18-A9B8-4A44-848A-B57098CC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38475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rPr>
              <a:t>消除答案误截断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95E0921F-4056-4CEE-AC2C-DD5EEA71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29025"/>
            <a:ext cx="22955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正文标签触发误停止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移除 final 内部 stop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扩展多工具分片处理</a:t>
            </a:r>
          </a:p>
        </p:txBody>
      </p:sp>
      <p:sp>
        <p:nvSpPr>
          <p:cNvPr id="26" name="metric-3">
            <a:extLst xmlns:a="http://schemas.openxmlformats.org/drawingml/2006/main">
              <a:ext uri="{FF2B5EF4-FFF2-40B4-BE49-F238E27FC236}">
                <a16:creationId xmlns:a16="http://schemas.microsoft.com/office/drawing/2014/main" id="{E2522445-0903-4C53-9D90-675013DB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149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133/300</a:t>
            </a:r>
          </a:p>
          <a:p xmlns:a="http://schemas.openxmlformats.org/drawingml/2006/main">
            <a:pPr>
              <a:def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降至 0/300</a:t>
            </a:r>
          </a:p>
        </p:txBody>
      </p:sp>
      <p:sp>
        <p:nvSpPr>
          <p:cNvPr id="27" name="detail-3">
            <a:extLst xmlns:a="http://schemas.openxmlformats.org/drawingml/2006/main">
              <a:ext uri="{FF2B5EF4-FFF2-40B4-BE49-F238E27FC236}">
                <a16:creationId xmlns:a16="http://schemas.microsoft.com/office/drawing/2014/main" id="{F3019657-4382-41A2-8E9F-ED66E14F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9055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DTB 非法参数 JSON</a:t>
            </a:r>
          </a:p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其余协议异常继续排查</a:t>
            </a:r>
          </a:p>
        </p:txBody>
      </p:sp>
      <p:sp>
        <p:nvSpPr>
          <p:cNvPr id="28" name="date-4">
            <a:extLst xmlns:a="http://schemas.openxmlformats.org/drawingml/2006/main">
              <a:ext uri="{FF2B5EF4-FFF2-40B4-BE49-F238E27FC236}">
                <a16:creationId xmlns:a16="http://schemas.microsoft.com/office/drawing/2014/main" id="{D564E808-EA0C-4FF8-9032-B038B72C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38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09.03–04</a:t>
            </a:r>
          </a:p>
        </p:txBody>
      </p:sp>
      <p:sp>
        <p:nvSpPr>
          <p:cNvPr id="29" name="milestone-4">
            <a:extLst xmlns:a="http://schemas.openxmlformats.org/drawingml/2006/main">
              <a:ext uri="{FF2B5EF4-FFF2-40B4-BE49-F238E27FC236}">
                <a16:creationId xmlns:a16="http://schemas.microsoft.com/office/drawing/2014/main" id="{C6A4C1F3-0C66-437E-B9AC-9D8C29E4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19A"/>
          </a:solidFill>
          <a:ln xmlns:a="http://schemas.openxmlformats.org/drawingml/2006/main" w="19050">
            <a:solidFill>
              <a:srgbClr val="F9FAFC"/>
            </a:solidFill>
          </a:ln>
        </p:spPr>
      </p:sp>
      <p:sp>
        <p:nvSpPr>
          <p:cNvPr id="30" name="stage-4">
            <a:extLst xmlns:a="http://schemas.openxmlformats.org/drawingml/2006/main">
              <a:ext uri="{FF2B5EF4-FFF2-40B4-BE49-F238E27FC236}">
                <a16:creationId xmlns:a16="http://schemas.microsoft.com/office/drawing/2014/main" id="{0B227DD9-A4ED-4F17-98EA-FD8DFE02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38475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rPr>
              <a:t>结构 token 停止</a:t>
            </a:r>
          </a:p>
        </p:txBody>
      </p:sp>
      <p:sp>
        <p:nvSpPr>
          <p:cNvPr id="31" name="body-4">
            <a:extLst xmlns:a="http://schemas.openxmlformats.org/drawingml/2006/main">
              <a:ext uri="{FF2B5EF4-FFF2-40B4-BE49-F238E27FC236}">
                <a16:creationId xmlns:a16="http://schemas.microsoft.com/office/drawing/2014/main" id="{19508DF2-6AB7-4CA4-9901-959E1E17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29025"/>
            <a:ext cx="22955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字面标签曾引发中断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结构边界原子迁移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支持空文本工具边界</a:t>
            </a:r>
          </a:p>
        </p:txBody>
      </p:sp>
      <p:sp>
        <p:nvSpPr>
          <p:cNvPr id="32" name="metric-4">
            <a:extLst xmlns:a="http://schemas.openxmlformats.org/drawingml/2006/main">
              <a:ext uri="{FF2B5EF4-FFF2-40B4-BE49-F238E27FC236}">
                <a16:creationId xmlns:a16="http://schemas.microsoft.com/office/drawing/2014/main" id="{F1652BAD-99C1-4984-AB40-59D4C3AB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1149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619A"/>
                </a:solidFill>
                <a:latin typeface="Microsoft YaHei"/>
                <a:ea typeface="Microsoft YaHei"/>
                <a:cs typeface="Microsoft YaHei"/>
              </a:rPr>
              <a:t>2/60 降至 0/60</a:t>
            </a:r>
          </a:p>
        </p:txBody>
      </p:sp>
      <p:sp>
        <p:nvSpPr>
          <p:cNvPr id="33" name="detail-4">
            <a:extLst xmlns:a="http://schemas.openxmlformats.org/drawingml/2006/main">
              <a:ext uri="{FF2B5EF4-FFF2-40B4-BE49-F238E27FC236}">
                <a16:creationId xmlns:a16="http://schemas.microsoft.com/office/drawing/2014/main" id="{5002EE12-6ABF-4766-99D0-8C570A76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9055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DTB 编排异常</a:t>
            </a:r>
          </a:p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新审计发现思考丢字</a:t>
            </a:r>
          </a:p>
        </p:txBody>
      </p:sp>
      <p:sp>
        <p:nvSpPr>
          <p:cNvPr id="34" name="date-5">
            <a:extLst xmlns:a="http://schemas.openxmlformats.org/drawingml/2006/main">
              <a:ext uri="{FF2B5EF4-FFF2-40B4-BE49-F238E27FC236}">
                <a16:creationId xmlns:a16="http://schemas.microsoft.com/office/drawing/2014/main" id="{52230865-9759-4981-8A71-E5F03B3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038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69"/>
                </a:solidFill>
                <a:latin typeface="Microsoft YaHei"/>
                <a:ea typeface="Microsoft YaHei"/>
                <a:cs typeface="Microsoft YaHei"/>
              </a:rPr>
              <a:t>09.04</a:t>
            </a:r>
          </a:p>
        </p:txBody>
      </p:sp>
      <p:sp>
        <p:nvSpPr>
          <p:cNvPr id="35" name="milestone-5">
            <a:extLst xmlns:a="http://schemas.openxmlformats.org/drawingml/2006/main">
              <a:ext uri="{FF2B5EF4-FFF2-40B4-BE49-F238E27FC236}">
                <a16:creationId xmlns:a16="http://schemas.microsoft.com/office/drawing/2014/main" id="{8BEBA290-EF36-4FB2-A393-C45C1706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69"/>
          </a:solidFill>
          <a:ln xmlns:a="http://schemas.openxmlformats.org/drawingml/2006/main" w="19050">
            <a:solidFill>
              <a:srgbClr val="F9FAFC"/>
            </a:solidFill>
          </a:ln>
        </p:spPr>
      </p:sp>
      <p:sp>
        <p:nvSpPr>
          <p:cNvPr id="36" name="stage-5">
            <a:extLst xmlns:a="http://schemas.openxmlformats.org/drawingml/2006/main">
              <a:ext uri="{FF2B5EF4-FFF2-40B4-BE49-F238E27FC236}">
                <a16:creationId xmlns:a16="http://schemas.microsoft.com/office/drawing/2014/main" id="{329B21B3-F40C-4713-9658-0D4B7BF6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038475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rPr>
              <a:t>保留思考正文尾段</a:t>
            </a:r>
          </a:p>
        </p:txBody>
      </p:sp>
      <p:sp>
        <p:nvSpPr>
          <p:cNvPr id="37" name="body-5">
            <a:extLst xmlns:a="http://schemas.openxmlformats.org/drawingml/2006/main">
              <a:ext uri="{FF2B5EF4-FFF2-40B4-BE49-F238E27FC236}">
                <a16:creationId xmlns:a16="http://schemas.microsoft.com/office/drawing/2014/main" id="{0265DB84-9003-4515-95C9-28B85B82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629025"/>
            <a:ext cx="22955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同批思考正文被吞掉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修复 reasoning 解析</a:t>
            </a:r>
          </a:p>
          <a:p xmlns:a="http://schemas.openxmlformats.org/drawingml/2006/main">
            <a:pPr>
              <a:def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公开输出逐字符核对</a:t>
            </a:r>
          </a:p>
        </p:txBody>
      </p:sp>
      <p:sp>
        <p:nvSpPr>
          <p:cNvPr id="38" name="metric-5">
            <a:extLst xmlns:a="http://schemas.openxmlformats.org/drawingml/2006/main">
              <a:ext uri="{FF2B5EF4-FFF2-40B4-BE49-F238E27FC236}">
                <a16:creationId xmlns:a16="http://schemas.microsoft.com/office/drawing/2014/main" id="{E21007D2-7A78-4BF0-AC58-38708F05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1149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C69"/>
                </a:solidFill>
                <a:latin typeface="Microsoft YaHei"/>
                <a:ea typeface="Microsoft YaHei"/>
                <a:cs typeface="Microsoft YaHei"/>
              </a:rPr>
              <a:t>47/60 降至 0/60</a:t>
            </a:r>
          </a:p>
        </p:txBody>
      </p:sp>
      <p:sp>
        <p:nvSpPr>
          <p:cNvPr id="39" name="detail-5">
            <a:extLst xmlns:a="http://schemas.openxmlformats.org/drawingml/2006/main">
              <a:ext uri="{FF2B5EF4-FFF2-40B4-BE49-F238E27FC236}">
                <a16:creationId xmlns:a16="http://schemas.microsoft.com/office/drawing/2014/main" id="{C6291411-2832-457C-8B83-899DBA9D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90550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DTB 思考正文丢字</a:t>
            </a:r>
          </a:p>
          <a:p xmlns:a="http://schemas.openxmlformats.org/drawingml/2006/main">
            <a:pPr>
              <a:def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新轮 48 次触发全部保留</a:t>
            </a:r>
          </a:p>
        </p:txBody>
      </p:sp>
      <p:sp>
        <p:nvSpPr>
          <p:cNvPr id="40" name="outcome-divider">
            <a:extLst xmlns:a="http://schemas.openxmlformats.org/drawingml/2006/main">
              <a:ext uri="{FF2B5EF4-FFF2-40B4-BE49-F238E27FC236}">
                <a16:creationId xmlns:a16="http://schemas.microsoft.com/office/drawing/2014/main" id="{43C7EA8A-00C2-4E0D-AF36-AEE39F3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7227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8"/>
            </a:solidFill>
          </a:ln>
        </p:spPr>
      </p:sp>
      <p:sp>
        <p:nvSpPr>
          <p:cNvPr id="41" name="outcome">
            <a:extLst xmlns:a="http://schemas.openxmlformats.org/drawingml/2006/main">
              <a:ext uri="{FF2B5EF4-FFF2-40B4-BE49-F238E27FC236}">
                <a16:creationId xmlns:a16="http://schemas.microsoft.com/office/drawing/2014/main" id="{F3DC4D2A-C099-40A8-B79B-F1A1BA49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10400"/>
            <a:ext cx="1402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C69"/>
                </a:solidFill>
                <a:latin typeface="Microsoft YaHei"/>
                <a:ea typeface="Microsoft YaHei"/>
                <a:cs typeface="Microsoft YaHei"/>
              </a:rPr>
              <a:t>最新定向回放未再观察到框架传输与解析问题</a:t>
            </a:r>
          </a:p>
        </p:txBody>
      </p:sp>
      <p:sp>
        <p:nvSpPr>
          <p:cNvPr id="42" name="outcome-evidence">
            <a:extLst xmlns:a="http://schemas.openxmlformats.org/drawingml/2006/main">
              <a:ext uri="{FF2B5EF4-FFF2-40B4-BE49-F238E27FC236}">
                <a16:creationId xmlns:a16="http://schemas.microsoft.com/office/drawing/2014/main" id="{97198E69-D724-4DA2-B4B9-14DFAE95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34275"/>
            <a:ext cx="1402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B42"/>
                </a:solidFill>
                <a:latin typeface="Microsoft YaHei"/>
                <a:ea typeface="Microsoft YaHei"/>
                <a:cs typeface="Microsoft YaHei"/>
              </a:rPr>
              <a:t>120 条响应工具流协议通过，60 条 DTB 思考正文保真，48 个混合 chunk 的 344 字符完整保留</a:t>
            </a:r>
          </a:p>
        </p:txBody>
      </p:sp>
      <p:sp>
        <p:nvSpPr>
          <p:cNvPr id="43" name="scope">
            <a:extLst xmlns:a="http://schemas.openxmlformats.org/drawingml/2006/main">
              <a:ext uri="{FF2B5EF4-FFF2-40B4-BE49-F238E27FC236}">
                <a16:creationId xmlns:a16="http://schemas.microsoft.com/office/drawing/2014/main" id="{07ADB7A0-4784-4494-93F9-86CA4958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15300"/>
            <a:ext cx="1402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47A"/>
                </a:solidFill>
                <a:latin typeface="Microsoft YaHei"/>
                <a:ea typeface="Microsoft YaHei"/>
                <a:cs typeface="Microsoft YaHei"/>
              </a:rPr>
              <a:t>各阶段样本与指标不同，不构成统一失败率曲线。历史真实 MTP 回放通过目标分片验证。任务质量与时延另行验收。</a:t>
            </a:r>
          </a:p>
        </p:txBody>
      </p:sp>
    </p:spTree>
    <p:extLst>
      <p:ext uri="{BB962C8B-B14F-4D97-AF65-F5344CB8AC3E}">
        <p14:creationId xmlns:p14="http://schemas.microsoft.com/office/powerpoint/2010/main" val="974843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2026-09-04T09:46:06.8280000Z</dcterms:created>
  <dcterms:modified xsi:type="dcterms:W3CDTF">2026-09-04T09:46:06.8280000Z</dcterms:modified>
</coreProperties>
</file>