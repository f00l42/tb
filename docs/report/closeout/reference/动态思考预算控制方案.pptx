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8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9" r:id="rId3"/>
    <p:sldMasterId id="2147483660" r:id="rId4"/>
    <p:sldMasterId id="2147483661" r:id="rId5"/>
    <p:sldMasterId id="2147483666" r:id="rId6"/>
    <p:sldMasterId id="2147483667" r:id="rId7"/>
    <p:sldMasterId id="2147483669" r:id="rId8"/>
    <p:sldMasterId id="2147483673" r:id="rId9"/>
  </p:sldMasterIdLst>
  <p:notesMasterIdLst>
    <p:notesMasterId r:id="rId11"/>
  </p:notesMasterIdLst>
  <p:sldIdLst>
    <p:sldId id="214748037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zi (D)" initials="l(" lastIdx="1" clrIdx="0"/>
  <p:cmAuthor id="2" name="Liulu" initials="L" lastIdx="1" clrIdx="1"/>
  <p:cmAuthor id="3" name="liyuan (AU)" initials="l(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271C1"/>
    <a:srgbClr val="BEE9EE"/>
    <a:srgbClr val="30B5C5"/>
    <a:srgbClr val="1005EB"/>
    <a:srgbClr val="DFF3D2"/>
    <a:srgbClr val="FFF4CB"/>
    <a:srgbClr val="D4F1F5"/>
    <a:srgbClr val="AAE3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95" autoAdjust="0"/>
    <p:restoredTop sz="97614" autoAdjust="0"/>
  </p:normalViewPr>
  <p:slideViewPr>
    <p:cSldViewPr snapToGrid="0">
      <p:cViewPr varScale="1">
        <p:scale>
          <a:sx n="73" d="100"/>
          <a:sy n="73" d="100"/>
        </p:scale>
        <p:origin x="6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6CC7A-6545-4805-8325-34F975DB0C8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5630C-9712-4E08-AC25-F7495FD002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dirty="0"/>
          </a:p>
          <a:p>
            <a:endParaRPr lang="en-US" altLang="zh-CN" sz="900" dirty="0"/>
          </a:p>
          <a:p>
            <a:endParaRPr lang="en-US" altLang="zh-CN" sz="900" dirty="0"/>
          </a:p>
          <a:p>
            <a:r>
              <a:rPr lang="zh-CN" altLang="en-US" sz="900" dirty="0"/>
              <a:t>第一步：传统非</a:t>
            </a:r>
            <a:r>
              <a:rPr lang="en-US" altLang="zh-CN" sz="900" dirty="0"/>
              <a:t>LAM</a:t>
            </a:r>
            <a:r>
              <a:rPr lang="zh-CN" altLang="en-US" sz="900" dirty="0"/>
              <a:t>模型切换</a:t>
            </a:r>
            <a:r>
              <a:rPr lang="en-US" altLang="zh-CN" sz="900" dirty="0"/>
              <a:t>Qwen3.6</a:t>
            </a:r>
            <a:r>
              <a:rPr lang="zh-CN" altLang="en-US" sz="900" dirty="0"/>
              <a:t>之后，思考长度长</a:t>
            </a:r>
            <a:r>
              <a:rPr lang="en-US" altLang="zh-CN" sz="900" dirty="0"/>
              <a:t>4</a:t>
            </a:r>
            <a:r>
              <a:rPr lang="zh-CN" altLang="en-US" sz="900" dirty="0"/>
              <a:t>倍左右，影响端到端性能。（主要通过后训练来压制思考速度）</a:t>
            </a:r>
            <a:endParaRPr lang="en-US" altLang="zh-CN" sz="900" dirty="0"/>
          </a:p>
          <a:p>
            <a:r>
              <a:rPr lang="zh-CN" altLang="en-US" sz="900" dirty="0"/>
              <a:t>后续：</a:t>
            </a:r>
            <a:r>
              <a:rPr lang="en-US" altLang="zh-CN" sz="900" dirty="0"/>
              <a:t>Tool</a:t>
            </a:r>
            <a:r>
              <a:rPr lang="zh-CN" altLang="en-US" sz="900" dirty="0"/>
              <a:t>调用级别的反思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zh-CN" altLang="en-US" sz="900" dirty="0"/>
              <a:t>提供：</a:t>
            </a:r>
            <a:r>
              <a:rPr lang="en-US" altLang="zh-CN" sz="900" dirty="0"/>
              <a:t>1</a:t>
            </a:r>
            <a:r>
              <a:rPr lang="zh-CN" altLang="en-US" sz="900" dirty="0"/>
              <a:t>）具体测试场景和测试集，或者专家预料；</a:t>
            </a:r>
            <a:r>
              <a:rPr lang="en-US" altLang="zh-CN" sz="900" dirty="0"/>
              <a:t>2</a:t>
            </a:r>
            <a:r>
              <a:rPr lang="zh-CN" altLang="en-US" sz="900" dirty="0"/>
              <a:t>）调用的大模型或者</a:t>
            </a:r>
            <a:r>
              <a:rPr lang="en-US" altLang="zh-CN" sz="900" dirty="0"/>
              <a:t>agent</a:t>
            </a:r>
            <a:r>
              <a:rPr lang="zh-CN" altLang="en-US" sz="900" dirty="0"/>
              <a:t>接口</a:t>
            </a:r>
            <a:endParaRPr lang="en-US" altLang="zh-CN" sz="900" dirty="0"/>
          </a:p>
          <a:p>
            <a:endParaRPr lang="en-US" altLang="zh-CN" sz="900" dirty="0"/>
          </a:p>
          <a:p>
            <a:endParaRPr lang="zh-CN" altLang="en-US" sz="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5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8" y="907097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5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5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5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1542" y="456141"/>
            <a:ext cx="10975712" cy="50589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395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8635" indent="0" algn="ctr">
              <a:buNone/>
              <a:defRPr sz="2075"/>
            </a:lvl4pPr>
            <a:lvl5pPr marL="2371725" indent="0" algn="ctr">
              <a:buNone/>
              <a:defRPr sz="2075"/>
            </a:lvl5pPr>
            <a:lvl6pPr marL="2964815" indent="0" algn="ctr">
              <a:buNone/>
              <a:defRPr sz="2075"/>
            </a:lvl6pPr>
            <a:lvl7pPr marL="3557905" indent="0" algn="ctr">
              <a:buNone/>
              <a:defRPr sz="2075"/>
            </a:lvl7pPr>
            <a:lvl8pPr marL="4150360" indent="0" algn="ctr">
              <a:buNone/>
              <a:defRPr sz="2075"/>
            </a:lvl8pPr>
            <a:lvl9pPr marL="474345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44574" y="90739"/>
            <a:ext cx="11840212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>
              <a:buNone/>
              <a:defRPr/>
            </a:lvl2pPr>
          </a:lstStyle>
          <a:p>
            <a:pPr lvl="0"/>
            <a:r>
              <a:rPr lang="zh-CN" altLang="en-US" dirty="0"/>
              <a:t>标题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46F379E4-531B-4D22-9293-21D29C634DC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2026/9/24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88BD1D14-B8D7-4DA7-870A-52A53F95A051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804" y="91915"/>
            <a:ext cx="11160124" cy="539749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5938" y="908056"/>
            <a:ext cx="11160124" cy="540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46405" marR="0" indent="-285750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+mn-lt"/>
                <a:ea typeface="微软雅黑" panose="020B0503020204020204" pitchFamily="34" charset="-122"/>
              </a:defRPr>
            </a:lvl2pPr>
            <a:lvl3pPr marL="109728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300" baseline="0">
                <a:latin typeface="+mn-lt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80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80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7355" indent="0" algn="ctr">
              <a:buNone/>
              <a:defRPr sz="2080"/>
            </a:lvl6pPr>
            <a:lvl7pPr marL="3560445" indent="0" algn="ctr">
              <a:buNone/>
              <a:defRPr sz="2080"/>
            </a:lvl7pPr>
            <a:lvl8pPr marL="4153535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7355" indent="0" algn="ctr">
              <a:buNone/>
              <a:defRPr sz="2080"/>
            </a:lvl6pPr>
            <a:lvl7pPr marL="3560445" indent="0" algn="ctr">
              <a:buNone/>
              <a:defRPr sz="2080"/>
            </a:lvl7pPr>
            <a:lvl8pPr marL="4153535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9"/>
            <a:ext cx="10729366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28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80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80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50" y="1402067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95" dirty="0">
                <a:solidFill>
                  <a:srgbClr val="1D1D1A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内容页-有标题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11" y="325446"/>
            <a:ext cx="10176667" cy="8715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249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lang="zh-CN" altLang="en-US" sz="2795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905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53526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795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0"/>
            </a:lvl2pPr>
            <a:lvl3pPr marL="1186180" indent="0" algn="ctr">
              <a:buNone/>
              <a:defRPr sz="2330"/>
            </a:lvl3pPr>
            <a:lvl4pPr marL="1779270" indent="0" algn="ctr">
              <a:buNone/>
              <a:defRPr sz="2075"/>
            </a:lvl4pPr>
            <a:lvl5pPr marL="2372360" indent="0" algn="ctr">
              <a:buNone/>
              <a:defRPr sz="2075"/>
            </a:lvl5pPr>
            <a:lvl6pPr marL="2965450" indent="0" algn="ctr">
              <a:buNone/>
              <a:defRPr sz="2075"/>
            </a:lvl6pPr>
            <a:lvl7pPr marL="3557905" indent="0" algn="ctr">
              <a:buNone/>
              <a:defRPr sz="2075"/>
            </a:lvl7pPr>
            <a:lvl8pPr marL="4150995" indent="0" algn="ctr">
              <a:buNone/>
              <a:defRPr sz="2075"/>
            </a:lvl8pPr>
            <a:lvl9pPr marL="474408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altLang="zh-CN">
              <a:solidFill>
                <a:srgbClr val="1D1D1A"/>
              </a:solidFill>
              <a:latin typeface="Arial" panose="020B0604020202020204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1D1D1A"/>
                </a:solidFill>
                <a:latin typeface="Arial" panose="020B0604020202020204" pitchFamily="34" charset="0"/>
                <a:ea typeface="宋体" pitchFamily="2" charset="-122"/>
              </a:rPr>
              <a:t>Page </a:t>
            </a:r>
            <a:fld id="{157BCEEB-A6DE-4361-81F2-42DF13EB6371}" type="slidenum">
              <a:rPr lang="de-DE" altLang="zh-CN">
                <a:solidFill>
                  <a:srgbClr val="1D1D1A"/>
                </a:solidFill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lang="en-GB" altLang="zh-CN">
              <a:solidFill>
                <a:srgbClr val="1D1D1A"/>
              </a:solidFill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 userDrawn="1"/>
        </p:nvSpPr>
        <p:spPr bwMode="auto">
          <a:xfrm rot="2725744">
            <a:off x="9200823" y="891606"/>
            <a:ext cx="2773354" cy="646079"/>
          </a:xfrm>
          <a:prstGeom prst="rect">
            <a:avLst/>
          </a:prstGeom>
          <a:solidFill>
            <a:srgbClr val="C00000">
              <a:alpha val="90000"/>
            </a:srgbClr>
          </a:solidFill>
          <a:ln w="19050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1995" dirty="0">
                <a:solidFill>
                  <a:srgbClr val="666666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样例</a:t>
            </a:r>
            <a:r>
              <a:rPr lang="en-US" altLang="zh-CN" sz="1995" dirty="0">
                <a:solidFill>
                  <a:srgbClr val="666666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—</a:t>
            </a:r>
            <a:r>
              <a:rPr lang="zh-CN" altLang="en-US" sz="1995" dirty="0">
                <a:solidFill>
                  <a:srgbClr val="666666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表现形式不限，涵括相关信息即可</a:t>
            </a:r>
            <a:endParaRPr lang="en-US" altLang="zh-CN" sz="1995" dirty="0">
              <a:solidFill>
                <a:srgbClr val="666666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7359" y="315536"/>
            <a:ext cx="11784325" cy="593230"/>
          </a:xfrm>
          <a:prstGeom prst="rect">
            <a:avLst/>
          </a:prstGeom>
        </p:spPr>
        <p:txBody>
          <a:bodyPr/>
          <a:lstStyle>
            <a:lvl1pPr algn="l">
              <a:defRPr sz="2795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2923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9"/>
            <a:ext cx="10729366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9130" indent="0" algn="ctr">
              <a:buNone/>
              <a:defRPr sz="1600"/>
            </a:lvl8pPr>
            <a:lvl9pPr marL="365633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99D2-F936-47FA-8975-D55B3AD960CA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CC89-8491-4C0A-84DA-E97A40BEE3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765">
              <a:defRPr/>
            </a:pPr>
            <a:fld id="{3F11F055-1F35-42D2-B2F0-2A10B5BF6107}" type="datetimeFigureOut">
              <a:rPr lang="zh-CN" altLang="en-US" smtClean="0">
                <a:solidFill>
                  <a:srgbClr val="1D1D1A"/>
                </a:solidFill>
              </a:rPr>
              <a:t>2026/9/24</a:t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765">
              <a:defRPr/>
            </a:pPr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765">
              <a:defRPr/>
            </a:pPr>
            <a:fld id="{E677E9FB-D34D-43F5-97D4-A501354996EE}" type="slidenum">
              <a:rPr lang="zh-CN" altLang="en-US" smtClean="0">
                <a:solidFill>
                  <a:srgbClr val="1D1D1A"/>
                </a:solidFill>
              </a:rPr>
              <a:t>‹#›</a:t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93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115" indent="-398145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115" indent="-39814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8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60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tiff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tif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tiff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39"/>
            <a:ext cx="1462895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6"/>
            <a:ext cx="49953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19" y="6319873"/>
            <a:ext cx="1268579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1507" y="2931937"/>
            <a:ext cx="1982142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12285671" y="2625392"/>
            <a:ext cx="1962557" cy="4233515"/>
            <a:chOff x="5343883" y="-48857"/>
            <a:chExt cx="3263588" cy="7037279"/>
          </a:xfrm>
        </p:grpSpPr>
        <p:sp>
          <p:nvSpPr>
            <p:cNvPr id="6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70" name="文本框 15"/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en-US" altLang="zh-CN" sz="800" dirty="0">
                  <a:solidFill>
                    <a:srgbClr val="1D1D1A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rgbClr val="1D1D1A"/>
                </a:solidFill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7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7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7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77" name="文本框 15"/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en-US" altLang="zh-CN" sz="800" dirty="0">
                  <a:solidFill>
                    <a:srgbClr val="1D1D1A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rgbClr val="1D1D1A"/>
                </a:solidFill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7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8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8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8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8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8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8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8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9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9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9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9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9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9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9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9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9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0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0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0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0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0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0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0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3" name="TextBox 2"/>
          <p:cNvSpPr txBox="1"/>
          <p:nvPr userDrawn="1"/>
        </p:nvSpPr>
        <p:spPr>
          <a:xfrm>
            <a:off x="1095041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353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4" y="6356939"/>
            <a:ext cx="1462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495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8" y="6402815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000" fontAlgn="base">
              <a:spcBef>
                <a:spcPct val="0"/>
              </a:spcBef>
              <a:spcAft>
                <a:spcPct val="0"/>
              </a:spcAft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8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249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ftr="0" dt="0"/>
  <p:txStyles>
    <p:titleStyle>
      <a:lvl1pPr algn="l" defTabSz="1185545" rtl="0" eaLnBrk="1" latinLnBrk="0" hangingPunct="1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5910" indent="-295910" algn="l" defTabSz="118554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0" kern="1200">
          <a:solidFill>
            <a:schemeClr val="tx1"/>
          </a:solidFill>
          <a:latin typeface="+mn-lt"/>
          <a:ea typeface="+mn-ea"/>
          <a:cs typeface="+mn-cs"/>
        </a:defRPr>
      </a:lvl2pPr>
      <a:lvl3pPr marL="1481455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667000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3260090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852545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445635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5038090" indent="-295910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1pPr>
      <a:lvl2pPr marL="593090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85545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3pPr>
      <a:lvl4pPr marL="1778635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2964180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556635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149725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4742180" algn="l" defTabSz="118554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10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3"/>
            <a:ext cx="1967205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21" Type="http://schemas.openxmlformats.org/officeDocument/2006/relationships/image" Target="../media/image22.svg"/><Relationship Id="rId34" Type="http://schemas.openxmlformats.org/officeDocument/2006/relationships/image" Target="../media/image35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33" Type="http://schemas.openxmlformats.org/officeDocument/2006/relationships/image" Target="../media/image3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31" Type="http://schemas.openxmlformats.org/officeDocument/2006/relationships/image" Target="../media/image32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1.png"/><Relationship Id="rId35" Type="http://schemas.openxmlformats.org/officeDocument/2006/relationships/image" Target="../media/image36.svg"/><Relationship Id="rId8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C84A536F-42A0-4F34-A0EE-45BC78DD9F77}"/>
              </a:ext>
            </a:extLst>
          </p:cNvPr>
          <p:cNvSpPr/>
          <p:nvPr/>
        </p:nvSpPr>
        <p:spPr>
          <a:xfrm>
            <a:off x="134319" y="172994"/>
            <a:ext cx="11463627" cy="4247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1865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动态思考预算控制技术（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DTB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Thinking-Budget Control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5383DF-F7CC-4B36-AC96-B4A895023FCD}"/>
              </a:ext>
            </a:extLst>
          </p:cNvPr>
          <p:cNvSpPr/>
          <p:nvPr/>
        </p:nvSpPr>
        <p:spPr>
          <a:xfrm>
            <a:off x="194761" y="787481"/>
            <a:ext cx="3072206" cy="367481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algn="ctr" defTabSz="914034">
              <a:defRPr/>
            </a:pPr>
            <a:endParaRPr lang="zh-CN" altLang="en-US" sz="9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86E0C5-07E7-4B2A-9CD4-601D17707735}"/>
              </a:ext>
            </a:extLst>
          </p:cNvPr>
          <p:cNvSpPr txBox="1"/>
          <p:nvPr/>
        </p:nvSpPr>
        <p:spPr>
          <a:xfrm>
            <a:off x="186705" y="905888"/>
            <a:ext cx="30722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As-Is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存在过度思考现象，同一个任务的思考步骤</a:t>
            </a:r>
            <a:r>
              <a:rPr lang="en-US" altLang="zh-CN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时延大幅波动；研发验证过程中发现模型切换到</a:t>
            </a:r>
            <a:r>
              <a:rPr lang="en-US" altLang="zh-CN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Qwen3.6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之后，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思考长度增加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倍以上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，影响端到端性能</a:t>
            </a:r>
            <a:endParaRPr lang="en-US" altLang="zh-CN" sz="1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To-Be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：基于任务难度构建动态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 budget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，高概率尾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截止思考，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提升思考速度</a:t>
            </a:r>
            <a:r>
              <a:rPr lang="en-US" altLang="zh-CN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09F0F2-BC1E-432A-BBB9-8B2F3E92824F}"/>
              </a:ext>
            </a:extLst>
          </p:cNvPr>
          <p:cNvSpPr txBox="1"/>
          <p:nvPr/>
        </p:nvSpPr>
        <p:spPr>
          <a:xfrm>
            <a:off x="238920" y="1994791"/>
            <a:ext cx="2846837" cy="153828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marL="171381" indent="-171381" defTabSz="913303">
              <a:buFont typeface="Wingdings" panose="05000000000000000000" pitchFamily="2" charset="2"/>
              <a:buChar char="Ø"/>
              <a:defRPr/>
            </a:pPr>
            <a:r>
              <a:rPr kumimoji="1" lang="zh-CN" altLang="en-US" sz="1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结合记忆对任务难度评估，构建</a:t>
            </a:r>
            <a:r>
              <a:rPr kumimoji="1" lang="en-US" altLang="zh-CN" sz="1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 budget</a:t>
            </a:r>
            <a:endParaRPr kumimoji="1" lang="en-US" altLang="zh-CN" sz="1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52FF24-62BA-4C65-8FFA-562D6C6C4A17}"/>
              </a:ext>
            </a:extLst>
          </p:cNvPr>
          <p:cNvSpPr txBox="1"/>
          <p:nvPr/>
        </p:nvSpPr>
        <p:spPr>
          <a:xfrm>
            <a:off x="238920" y="3427231"/>
            <a:ext cx="3019991" cy="30765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marL="171381" indent="-171381" defTabSz="913303">
              <a:buFont typeface="Wingdings" panose="05000000000000000000" pitchFamily="2" charset="2"/>
              <a:buChar char="Ø"/>
              <a:defRPr/>
            </a:pPr>
            <a:r>
              <a:rPr kumimoji="1" lang="zh-CN" altLang="en-US" sz="1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置信度终止器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（避免思考膨胀，跳出模型自省与观察偏差陷阱）</a:t>
            </a:r>
            <a:endParaRPr kumimoji="1" lang="en-US" altLang="zh-CN" sz="1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EE1B01-F617-4660-B237-086683B8BA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172"/>
          <a:stretch/>
        </p:blipFill>
        <p:spPr>
          <a:xfrm>
            <a:off x="261205" y="2145815"/>
            <a:ext cx="1978290" cy="9508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187C439-3DCA-4BBC-A9E8-EA247AA275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763" r="52452"/>
          <a:stretch/>
        </p:blipFill>
        <p:spPr>
          <a:xfrm>
            <a:off x="2203466" y="2122705"/>
            <a:ext cx="940625" cy="6631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8366FD0-A40E-4966-8EC2-C21035F460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97" t="61763" r="1255"/>
          <a:stretch/>
        </p:blipFill>
        <p:spPr>
          <a:xfrm>
            <a:off x="2214650" y="2769176"/>
            <a:ext cx="878581" cy="61936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5DBEE59-0919-43F6-B0AD-61E6F0ED3225}"/>
              </a:ext>
            </a:extLst>
          </p:cNvPr>
          <p:cNvSpPr txBox="1"/>
          <p:nvPr/>
        </p:nvSpPr>
        <p:spPr>
          <a:xfrm>
            <a:off x="474968" y="3119756"/>
            <a:ext cx="1650892" cy="19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7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1" lang="en-US" altLang="zh-CN" sz="7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 budget</a:t>
            </a:r>
            <a:r>
              <a:rPr kumimoji="1" lang="zh-CN" altLang="en-US" sz="7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sz="7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Mid Think </a:t>
            </a:r>
            <a:endParaRPr lang="zh-CN" altLang="en-US" sz="7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3EF641-DBA5-4B27-B424-F494DEFEF7FA}"/>
              </a:ext>
            </a:extLst>
          </p:cNvPr>
          <p:cNvSpPr/>
          <p:nvPr/>
        </p:nvSpPr>
        <p:spPr>
          <a:xfrm>
            <a:off x="363706" y="3863973"/>
            <a:ext cx="599251" cy="34726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 anchorCtr="0"/>
          <a:lstStyle/>
          <a:p>
            <a:pPr algn="ctr" defTabSz="912573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尾</a:t>
            </a:r>
            <a:r>
              <a:rPr lang="en-US" altLang="zh-CN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</a:t>
            </a:r>
            <a:endParaRPr lang="en-US" altLang="zh-CN" sz="8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7CD542-37DC-4C1B-B741-810168B4F8DF}"/>
              </a:ext>
            </a:extLst>
          </p:cNvPr>
          <p:cNvSpPr/>
          <p:nvPr/>
        </p:nvSpPr>
        <p:spPr>
          <a:xfrm>
            <a:off x="1121922" y="3863973"/>
            <a:ext cx="486760" cy="34726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 anchorCtr="0"/>
          <a:lstStyle/>
          <a:p>
            <a:pPr algn="ctr" defTabSz="912573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置信度评估</a:t>
            </a:r>
            <a:endParaRPr lang="en-US" altLang="zh-CN" sz="8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7B7D68-B194-4653-B554-5B4E1F589E6E}"/>
              </a:ext>
            </a:extLst>
          </p:cNvPr>
          <p:cNvSpPr/>
          <p:nvPr/>
        </p:nvSpPr>
        <p:spPr>
          <a:xfrm>
            <a:off x="1928650" y="3677651"/>
            <a:ext cx="486760" cy="3076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 anchorCtr="0"/>
          <a:lstStyle/>
          <a:p>
            <a:pPr algn="ctr" defTabSz="912573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置信度达标</a:t>
            </a:r>
            <a:endParaRPr lang="en-US" altLang="zh-CN" sz="8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3A910C6-E091-4420-9CBB-E5C81492D20E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962956" y="4037607"/>
            <a:ext cx="15896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544623-0805-4274-BAD7-67272E7EB123}"/>
              </a:ext>
            </a:extLst>
          </p:cNvPr>
          <p:cNvCxnSpPr>
            <a:cxnSpLocks/>
            <a:stCxn id="15" idx="1"/>
            <a:endCxn id="14" idx="3"/>
          </p:cNvCxnSpPr>
          <p:nvPr/>
        </p:nvCxnSpPr>
        <p:spPr>
          <a:xfrm flipH="1">
            <a:off x="1608682" y="3831480"/>
            <a:ext cx="319968" cy="20612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85DF1711-0B43-48E3-8115-E07111A7B00E}"/>
              </a:ext>
            </a:extLst>
          </p:cNvPr>
          <p:cNvSpPr/>
          <p:nvPr/>
        </p:nvSpPr>
        <p:spPr>
          <a:xfrm>
            <a:off x="1933350" y="4059418"/>
            <a:ext cx="486760" cy="3076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 anchorCtr="0"/>
          <a:lstStyle/>
          <a:p>
            <a:pPr algn="ctr" defTabSz="912573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置信度不达标</a:t>
            </a:r>
            <a:endParaRPr lang="en-US" altLang="zh-CN" sz="8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4A6169-1BFA-4100-A22D-A92705756D8E}"/>
              </a:ext>
            </a:extLst>
          </p:cNvPr>
          <p:cNvSpPr/>
          <p:nvPr/>
        </p:nvSpPr>
        <p:spPr>
          <a:xfrm>
            <a:off x="2610621" y="3677651"/>
            <a:ext cx="376986" cy="3076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 anchorCtr="0"/>
          <a:lstStyle/>
          <a:p>
            <a:pPr algn="ctr" defTabSz="912573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终止思考</a:t>
            </a:r>
            <a:endParaRPr lang="en-US" altLang="zh-CN" sz="8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D49E329-2FDC-4BA4-991C-310D31F169FF}"/>
              </a:ext>
            </a:extLst>
          </p:cNvPr>
          <p:cNvCxnSpPr>
            <a:cxnSpLocks/>
            <a:stCxn id="19" idx="1"/>
            <a:endCxn id="15" idx="3"/>
          </p:cNvCxnSpPr>
          <p:nvPr/>
        </p:nvCxnSpPr>
        <p:spPr>
          <a:xfrm flipH="1">
            <a:off x="2415410" y="3831479"/>
            <a:ext cx="19521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60E3E0A-FCAC-4447-AC93-B4AFA8C95D5B}"/>
              </a:ext>
            </a:extLst>
          </p:cNvPr>
          <p:cNvCxnSpPr>
            <a:cxnSpLocks/>
            <a:stCxn id="18" idx="1"/>
            <a:endCxn id="14" idx="3"/>
          </p:cNvCxnSpPr>
          <p:nvPr/>
        </p:nvCxnSpPr>
        <p:spPr>
          <a:xfrm flipH="1" flipV="1">
            <a:off x="1608682" y="4037607"/>
            <a:ext cx="324668" cy="175639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43C10EA1-322D-482E-8B4C-664FDEDE9B3F}"/>
              </a:ext>
            </a:extLst>
          </p:cNvPr>
          <p:cNvSpPr/>
          <p:nvPr/>
        </p:nvSpPr>
        <p:spPr>
          <a:xfrm>
            <a:off x="2610621" y="4059418"/>
            <a:ext cx="376986" cy="30765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 anchorCtr="0"/>
          <a:lstStyle/>
          <a:p>
            <a:pPr algn="ctr" defTabSz="912573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继续思考</a:t>
            </a:r>
            <a:endParaRPr lang="en-US" altLang="zh-CN" sz="8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C0876B0-0EB1-4B6D-928C-987677DA2B14}"/>
              </a:ext>
            </a:extLst>
          </p:cNvPr>
          <p:cNvCxnSpPr>
            <a:cxnSpLocks/>
            <a:stCxn id="22" idx="1"/>
            <a:endCxn id="18" idx="3"/>
          </p:cNvCxnSpPr>
          <p:nvPr/>
        </p:nvCxnSpPr>
        <p:spPr>
          <a:xfrm flipH="1">
            <a:off x="2420110" y="4213246"/>
            <a:ext cx="19051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15010C66-03C2-4574-A172-E82762A13377}"/>
              </a:ext>
            </a:extLst>
          </p:cNvPr>
          <p:cNvCxnSpPr>
            <a:cxnSpLocks/>
            <a:stCxn id="22" idx="3"/>
            <a:endCxn id="13" idx="2"/>
          </p:cNvCxnSpPr>
          <p:nvPr/>
        </p:nvCxnSpPr>
        <p:spPr>
          <a:xfrm flipH="1" flipV="1">
            <a:off x="663332" y="4211241"/>
            <a:ext cx="2324275" cy="2006"/>
          </a:xfrm>
          <a:prstGeom prst="bentConnector4">
            <a:avLst>
              <a:gd name="adj1" fmla="val -4096"/>
              <a:gd name="adj2" fmla="val -8933134"/>
            </a:avLst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0F657D7-A733-4FC8-827E-8D3AE55DEBEB}"/>
              </a:ext>
            </a:extLst>
          </p:cNvPr>
          <p:cNvSpPr txBox="1"/>
          <p:nvPr/>
        </p:nvSpPr>
        <p:spPr>
          <a:xfrm>
            <a:off x="1073439" y="644682"/>
            <a:ext cx="1130028" cy="30752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 defTabSz="91312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98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背景和问题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6BE1472F-B5F9-4F8B-9A6B-717480066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35045"/>
              </p:ext>
            </p:extLst>
          </p:nvPr>
        </p:nvGraphicFramePr>
        <p:xfrm>
          <a:off x="190733" y="4625870"/>
          <a:ext cx="3076235" cy="113310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26914">
                  <a:extLst>
                    <a:ext uri="{9D8B030D-6E8A-4147-A177-3AD203B41FA5}">
                      <a16:colId xmlns:a16="http://schemas.microsoft.com/office/drawing/2014/main" val="869456549"/>
                    </a:ext>
                  </a:extLst>
                </a:gridCol>
                <a:gridCol w="1549321">
                  <a:extLst>
                    <a:ext uri="{9D8B030D-6E8A-4147-A177-3AD203B41FA5}">
                      <a16:colId xmlns:a16="http://schemas.microsoft.com/office/drawing/2014/main" val="1534314748"/>
                    </a:ext>
                  </a:extLst>
                </a:gridCol>
              </a:tblGrid>
              <a:tr h="2816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实践发现的</a:t>
                      </a:r>
                      <a:r>
                        <a:rPr lang="zh-CN" sz="11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sz="11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9521" marR="9521" marT="9521" marB="9521" anchor="ctr"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挑战</a:t>
                      </a:r>
                      <a:endParaRPr lang="zh-CN" sz="11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9521" marR="9521" marT="9521" marB="9521" anchor="ctr"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90283"/>
                  </a:ext>
                </a:extLst>
              </a:tr>
              <a:tr h="851485">
                <a:tc>
                  <a:txBody>
                    <a:bodyPr/>
                    <a:lstStyle/>
                    <a:p>
                      <a:pPr marL="0" algn="ctr" defTabSz="1187798" rtl="0" eaLnBrk="1" latinLnBrk="0" hangingPunct="1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同一条案例</a:t>
                      </a:r>
                      <a:r>
                        <a:rPr lang="zh-CN" altLang="en-US" sz="9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重复执行多次，思考步骤和时间差异过大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1187798" rtl="0" eaLnBrk="1" latinLnBrk="0" hangingPunct="1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zh-CN" altLang="en-US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min: 9</a:t>
                      </a:r>
                      <a:r>
                        <a:rPr lang="zh-CN" altLang="en-US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步</a:t>
                      </a:r>
                      <a:r>
                        <a:rPr lang="en-US" altLang="zh-CN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261s</a:t>
                      </a:r>
                      <a:r>
                        <a:rPr lang="zh-CN" altLang="en-US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max: 20+</a:t>
                      </a:r>
                      <a:r>
                        <a:rPr lang="zh-CN" altLang="en-US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步</a:t>
                      </a:r>
                      <a:r>
                        <a:rPr lang="en-US" altLang="zh-CN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419s</a:t>
                      </a:r>
                      <a:r>
                        <a:rPr lang="zh-CN" altLang="en-US" sz="8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altLang="en-US" sz="900" b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1" marR="9521" marT="9521" marB="95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LAM</a:t>
                      </a:r>
                      <a:r>
                        <a:rPr lang="zh-CN" altLang="en-US" sz="8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过度思考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：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）何时打断思考？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）最佳思考步骤数量？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）记忆辅助思考？</a:t>
                      </a:r>
                      <a:endParaRPr 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9521" marR="9521" marT="9521" marB="9521" anchor="ctr"/>
                </a:tc>
                <a:extLst>
                  <a:ext uri="{0D108BD9-81ED-4DB2-BD59-A6C34878D82A}">
                    <a16:rowId xmlns:a16="http://schemas.microsoft.com/office/drawing/2014/main" val="2979983989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50543A03-4B79-4305-96DA-0FCF51E24366}"/>
              </a:ext>
            </a:extLst>
          </p:cNvPr>
          <p:cNvSpPr/>
          <p:nvPr/>
        </p:nvSpPr>
        <p:spPr>
          <a:xfrm>
            <a:off x="3383436" y="787481"/>
            <a:ext cx="8567948" cy="598787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algn="ctr" defTabSz="914034">
              <a:defRPr/>
            </a:pPr>
            <a:endParaRPr lang="zh-CN" altLang="en-US" sz="9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A5E462A-FE6A-44A9-9A73-F4C5E459A1BC}"/>
              </a:ext>
            </a:extLst>
          </p:cNvPr>
          <p:cNvSpPr txBox="1"/>
          <p:nvPr/>
        </p:nvSpPr>
        <p:spPr>
          <a:xfrm>
            <a:off x="5359451" y="650677"/>
            <a:ext cx="4615917" cy="30752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 defTabSz="91312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98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基本方案：面向</a:t>
            </a:r>
            <a:r>
              <a:rPr lang="en-US" altLang="zh-CN" sz="1398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</a:t>
            </a:r>
            <a:r>
              <a:rPr lang="zh-CN" altLang="en-US" sz="1398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的动态思考预算控制方法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1A99B6-185C-48EA-B89D-A6B2FE56DB9A}"/>
              </a:ext>
            </a:extLst>
          </p:cNvPr>
          <p:cNvSpPr txBox="1"/>
          <p:nvPr/>
        </p:nvSpPr>
        <p:spPr>
          <a:xfrm>
            <a:off x="132600" y="5777487"/>
            <a:ext cx="3249117" cy="798048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>
            <a:spAutoFit/>
          </a:bodyPr>
          <a:lstStyle/>
          <a:p>
            <a:pPr marL="171381" indent="-171381" defTabSz="913303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上级发布任务，我们会</a:t>
            </a:r>
            <a:r>
              <a:rPr kumimoji="1" lang="zh-CN" altLang="en-US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先自己评估一下难度</a:t>
            </a:r>
            <a:r>
              <a:rPr kumimoji="1" lang="zh-CN" altLang="en-US" sz="1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，然后才决定调用多少人力？耗费多少资金？</a:t>
            </a:r>
            <a:endParaRPr kumimoji="1"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当前模型</a:t>
            </a:r>
            <a:r>
              <a:rPr kumimoji="1" lang="zh-CN" altLang="en-US" sz="1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非常欠缺</a:t>
            </a:r>
            <a:r>
              <a:rPr kumimoji="1" lang="zh-CN" altLang="en-US" sz="1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这一部分</a:t>
            </a:r>
            <a:endParaRPr kumimoji="1" lang="en-US" altLang="zh-CN" sz="1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AFDA9C2C-41E5-42C3-B684-F6035214E00B}"/>
              </a:ext>
            </a:extLst>
          </p:cNvPr>
          <p:cNvSpPr/>
          <p:nvPr/>
        </p:nvSpPr>
        <p:spPr>
          <a:xfrm>
            <a:off x="3675014" y="1064496"/>
            <a:ext cx="7871792" cy="244219"/>
          </a:xfrm>
          <a:prstGeom prst="roundRect">
            <a:avLst>
              <a:gd name="adj" fmla="val 50000"/>
            </a:avLst>
          </a:prstGeom>
          <a:solidFill>
            <a:srgbClr val="023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0AC147A-AE1A-473A-A23A-09532540EFB7}"/>
              </a:ext>
            </a:extLst>
          </p:cNvPr>
          <p:cNvSpPr txBox="1"/>
          <p:nvPr/>
        </p:nvSpPr>
        <p:spPr>
          <a:xfrm>
            <a:off x="4015778" y="1095009"/>
            <a:ext cx="6894519" cy="184594"/>
          </a:xfrm>
          <a:prstGeom prst="rect">
            <a:avLst/>
          </a:prstGeom>
          <a:solidFill>
            <a:srgbClr val="003389"/>
          </a:solidFill>
        </p:spPr>
        <p:txBody>
          <a:bodyPr wrap="square" lIns="0" tIns="0" rIns="0" bIns="0" rtlCol="0">
            <a:spAutoFit/>
          </a:bodyPr>
          <a:lstStyle/>
          <a:p>
            <a:pPr algn="ctr" defTabSz="913303">
              <a:defRPr/>
            </a:pPr>
            <a:r>
              <a:rPr kumimoji="1" lang="zh-CN" altLang="en-US" sz="12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让模型学会 </a:t>
            </a:r>
            <a:r>
              <a:rPr kumimoji="1" lang="en-US" altLang="zh-CN" sz="12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kumimoji="1" lang="zh-CN" altLang="en-US" sz="12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何时思考、思考多久、何时停止</a:t>
            </a:r>
            <a:r>
              <a:rPr kumimoji="1" lang="en-US" altLang="zh-CN" sz="12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—— </a:t>
            </a:r>
            <a:r>
              <a:rPr kumimoji="1" lang="zh-CN" altLang="en-US" sz="12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打造高效、可靠、可控的思考资源调度系统</a:t>
            </a:r>
            <a:endParaRPr kumimoji="1" lang="en-US" altLang="zh-CN" sz="12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6B981C9B-6EA9-4F29-B438-F05D65B5E293}"/>
              </a:ext>
            </a:extLst>
          </p:cNvPr>
          <p:cNvSpPr/>
          <p:nvPr/>
        </p:nvSpPr>
        <p:spPr>
          <a:xfrm>
            <a:off x="3675014" y="1495886"/>
            <a:ext cx="2078699" cy="1772257"/>
          </a:xfrm>
          <a:prstGeom prst="roundRect">
            <a:avLst>
              <a:gd name="adj" fmla="val 10451"/>
            </a:avLst>
          </a:prstGeom>
          <a:solidFill>
            <a:srgbClr val="FEFBFC"/>
          </a:solidFill>
          <a:ln>
            <a:solidFill>
              <a:srgbClr val="F6B7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FC44B66-12E0-4FF5-BBD4-DA221CD7A2BE}"/>
              </a:ext>
            </a:extLst>
          </p:cNvPr>
          <p:cNvSpPr txBox="1"/>
          <p:nvPr/>
        </p:nvSpPr>
        <p:spPr>
          <a:xfrm>
            <a:off x="4122159" y="1763545"/>
            <a:ext cx="1257781" cy="953081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marL="171450" indent="-171450" defTabSz="913303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过度思考</a:t>
            </a:r>
            <a:endParaRPr kumimoji="1" lang="en-US" altLang="zh-CN" sz="105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303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推理路径固化</a:t>
            </a:r>
            <a:endParaRPr kumimoji="1" lang="en-US" altLang="zh-CN" sz="105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303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自验证循环</a:t>
            </a:r>
            <a:endParaRPr kumimoji="1" lang="en-US" altLang="zh-CN" sz="105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303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1" lang="en-US" altLang="zh-CN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</a:t>
            </a:r>
            <a:r>
              <a:rPr kumimoji="1" lang="zh-CN" altLang="en-US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调用依赖</a:t>
            </a:r>
            <a:endParaRPr kumimoji="1" lang="en-US" altLang="zh-CN" sz="105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303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不区分任务难度</a:t>
            </a:r>
            <a:endParaRPr kumimoji="1" lang="en-US" altLang="zh-CN" sz="105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92DAB1EC-3265-4328-B6C6-03D97F7620D3}"/>
              </a:ext>
            </a:extLst>
          </p:cNvPr>
          <p:cNvSpPr txBox="1"/>
          <p:nvPr/>
        </p:nvSpPr>
        <p:spPr>
          <a:xfrm>
            <a:off x="3738255" y="2806756"/>
            <a:ext cx="1946071" cy="353687"/>
          </a:xfrm>
          <a:prstGeom prst="rect">
            <a:avLst/>
          </a:prstGeom>
          <a:solidFill>
            <a:srgbClr val="FEFCFC"/>
          </a:solidFill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20000"/>
              </a:lnSpc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根本原因：</a:t>
            </a:r>
            <a:endParaRPr kumimoji="1" lang="en-US" altLang="zh-CN" sz="1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303">
              <a:lnSpc>
                <a:spcPct val="120000"/>
              </a:lnSpc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模型不知道什么时候应该停止思考</a:t>
            </a:r>
            <a:endParaRPr kumimoji="1" lang="en-US" altLang="zh-CN" sz="1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F3FE6917-6288-42DF-98D1-9106B9F9420F}"/>
              </a:ext>
            </a:extLst>
          </p:cNvPr>
          <p:cNvSpPr txBox="1"/>
          <p:nvPr/>
        </p:nvSpPr>
        <p:spPr>
          <a:xfrm>
            <a:off x="3952961" y="1542915"/>
            <a:ext cx="1516661" cy="177484"/>
          </a:xfrm>
          <a:prstGeom prst="rect">
            <a:avLst/>
          </a:prstGeom>
          <a:solidFill>
            <a:srgbClr val="FEFCFC"/>
          </a:solidFill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20000"/>
              </a:lnSpc>
              <a:defRPr/>
            </a:pPr>
            <a:r>
              <a:rPr kumimoji="1" lang="zh-CN" altLang="en-US" sz="105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</a:t>
            </a:r>
            <a:r>
              <a:rPr kumimoji="1" lang="en-US" altLang="zh-CN" sz="105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</a:t>
            </a:r>
            <a:r>
              <a:rPr kumimoji="1" lang="zh-CN" altLang="en-US" sz="105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的核心问题</a:t>
            </a:r>
            <a:endParaRPr kumimoji="1" lang="en-US" altLang="zh-CN" sz="105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7B6F1FC4-6783-4406-9883-0A1A5916D78C}"/>
              </a:ext>
            </a:extLst>
          </p:cNvPr>
          <p:cNvCxnSpPr/>
          <p:nvPr/>
        </p:nvCxnSpPr>
        <p:spPr>
          <a:xfrm>
            <a:off x="3806463" y="2751309"/>
            <a:ext cx="18223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81BF941C-1BF0-46F6-9C3A-5ED306345823}"/>
              </a:ext>
            </a:extLst>
          </p:cNvPr>
          <p:cNvSpPr/>
          <p:nvPr/>
        </p:nvSpPr>
        <p:spPr>
          <a:xfrm>
            <a:off x="3671940" y="3455315"/>
            <a:ext cx="2078699" cy="1499642"/>
          </a:xfrm>
          <a:prstGeom prst="roundRect">
            <a:avLst>
              <a:gd name="adj" fmla="val 10451"/>
            </a:avLst>
          </a:prstGeom>
          <a:solidFill>
            <a:srgbClr val="F8FAFA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F636173-8819-4B9F-B46B-0BE9B51D1C46}"/>
              </a:ext>
            </a:extLst>
          </p:cNvPr>
          <p:cNvSpPr txBox="1"/>
          <p:nvPr/>
        </p:nvSpPr>
        <p:spPr>
          <a:xfrm>
            <a:off x="3806463" y="4690070"/>
            <a:ext cx="1885700" cy="177415"/>
          </a:xfrm>
          <a:prstGeom prst="rect">
            <a:avLst/>
          </a:prstGeom>
          <a:solidFill>
            <a:srgbClr val="F9FBFA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20000"/>
              </a:lnSpc>
              <a:defRPr/>
            </a:pPr>
            <a:r>
              <a:rPr kumimoji="1" lang="zh-CN" altLang="en-US" sz="1050" b="1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从“无限思考”到“预算驱动”</a:t>
            </a:r>
            <a:endParaRPr kumimoji="1" lang="en-US" altLang="zh-CN" sz="1050" b="1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84C09FF0-83A0-4E91-9460-EFD1B05F124C}"/>
              </a:ext>
            </a:extLst>
          </p:cNvPr>
          <p:cNvSpPr txBox="1"/>
          <p:nvPr/>
        </p:nvSpPr>
        <p:spPr>
          <a:xfrm>
            <a:off x="3812391" y="3804599"/>
            <a:ext cx="1873843" cy="758886"/>
          </a:xfrm>
          <a:prstGeom prst="rect">
            <a:avLst/>
          </a:prstGeom>
          <a:solidFill>
            <a:srgbClr val="F9FBFA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20000"/>
              </a:lnSpc>
              <a:defRPr/>
            </a:pPr>
            <a:r>
              <a:rPr kumimoji="1" lang="zh-CN" altLang="en-US" sz="105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根据任务难度、类型、历史经验和实时</a:t>
            </a:r>
            <a:r>
              <a:rPr kumimoji="1" lang="zh-CN" altLang="en-US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推理收益与置信度</a:t>
            </a:r>
            <a:r>
              <a:rPr kumimoji="1" lang="zh-CN" altLang="en-US" sz="105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动态分配思考预算</a:t>
            </a:r>
            <a:r>
              <a:rPr kumimoji="1" lang="zh-CN" altLang="en-US" sz="105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，并在合适的时机停止思考或请求人工接管</a:t>
            </a:r>
            <a:endParaRPr kumimoji="1" lang="en-US" altLang="zh-CN" sz="105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2654000-FBCC-48AE-A08E-7A045024F9D1}"/>
              </a:ext>
            </a:extLst>
          </p:cNvPr>
          <p:cNvSpPr txBox="1"/>
          <p:nvPr/>
        </p:nvSpPr>
        <p:spPr>
          <a:xfrm>
            <a:off x="4307941" y="3517475"/>
            <a:ext cx="882744" cy="177415"/>
          </a:xfrm>
          <a:prstGeom prst="rect">
            <a:avLst/>
          </a:prstGeom>
          <a:solidFill>
            <a:srgbClr val="F9FBFA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20000"/>
              </a:lnSpc>
              <a:defRPr/>
            </a:pPr>
            <a:r>
              <a:rPr kumimoji="1" lang="en-US" altLang="zh-CN" sz="1050" b="1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DTB</a:t>
            </a:r>
            <a:r>
              <a:rPr kumimoji="1" lang="zh-CN" altLang="en-US" sz="1050" b="1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核心思想</a:t>
            </a:r>
            <a:endParaRPr kumimoji="1" lang="en-US" altLang="zh-CN" sz="1050" b="1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40FB7DCF-2BF3-4AB8-BCA7-ED3498C73A93}"/>
              </a:ext>
            </a:extLst>
          </p:cNvPr>
          <p:cNvGrpSpPr/>
          <p:nvPr/>
        </p:nvGrpSpPr>
        <p:grpSpPr>
          <a:xfrm>
            <a:off x="3783798" y="5071232"/>
            <a:ext cx="1991111" cy="1105858"/>
            <a:chOff x="3254775" y="5523696"/>
            <a:chExt cx="1991111" cy="1105858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E3B4E107-B4B6-456D-8E9C-CECA4DF944AA}"/>
                </a:ext>
              </a:extLst>
            </p:cNvPr>
            <p:cNvSpPr/>
            <p:nvPr/>
          </p:nvSpPr>
          <p:spPr>
            <a:xfrm>
              <a:off x="3875373" y="5842068"/>
              <a:ext cx="564080" cy="787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</a:rPr>
                <a:t>动态思考预算控制</a:t>
              </a:r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9F9811DD-A1F7-4938-B531-EAFE70BD5857}"/>
                </a:ext>
              </a:extLst>
            </p:cNvPr>
            <p:cNvCxnSpPr/>
            <p:nvPr/>
          </p:nvCxnSpPr>
          <p:spPr>
            <a:xfrm>
              <a:off x="3519025" y="6179751"/>
              <a:ext cx="35634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DF4C5D20-5BF8-45C1-A7CE-55991C290361}"/>
                </a:ext>
              </a:extLst>
            </p:cNvPr>
            <p:cNvCxnSpPr/>
            <p:nvPr/>
          </p:nvCxnSpPr>
          <p:spPr>
            <a:xfrm>
              <a:off x="4402322" y="6174071"/>
              <a:ext cx="35634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C7CB73F2-9E11-41E6-81B1-0649D87230A2}"/>
                </a:ext>
              </a:extLst>
            </p:cNvPr>
            <p:cNvCxnSpPr>
              <a:cxnSpLocks/>
            </p:cNvCxnSpPr>
            <p:nvPr/>
          </p:nvCxnSpPr>
          <p:spPr>
            <a:xfrm>
              <a:off x="3867585" y="6179751"/>
              <a:ext cx="163729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C078B3B8-CC56-4D7D-97E8-86DBA9D64B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9885" y="5899780"/>
              <a:ext cx="0" cy="27997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EAE184B7-C593-47EF-8AFF-10E3B85CE442}"/>
                </a:ext>
              </a:extLst>
            </p:cNvPr>
            <p:cNvCxnSpPr>
              <a:cxnSpLocks/>
            </p:cNvCxnSpPr>
            <p:nvPr/>
          </p:nvCxnSpPr>
          <p:spPr>
            <a:xfrm>
              <a:off x="4031314" y="5880033"/>
              <a:ext cx="163678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F0945083-C59E-45C3-B55F-54E705387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3897" y="5876796"/>
              <a:ext cx="0" cy="688012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EF1BBAC0-0029-47EC-BB72-F53046CFA7C8}"/>
                </a:ext>
              </a:extLst>
            </p:cNvPr>
            <p:cNvCxnSpPr>
              <a:cxnSpLocks/>
            </p:cNvCxnSpPr>
            <p:nvPr/>
          </p:nvCxnSpPr>
          <p:spPr>
            <a:xfrm>
              <a:off x="4164039" y="6564808"/>
              <a:ext cx="159163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5F54DDFA-2E66-41DB-84B8-09BAA8390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1044" y="6172610"/>
              <a:ext cx="0" cy="37067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281CEDC5-29A8-4790-8287-EE1993192292}"/>
                </a:ext>
              </a:extLst>
            </p:cNvPr>
            <p:cNvSpPr txBox="1"/>
            <p:nvPr/>
          </p:nvSpPr>
          <p:spPr>
            <a:xfrm>
              <a:off x="3254775" y="5938897"/>
              <a:ext cx="513527" cy="4562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3303">
                <a:lnSpc>
                  <a:spcPct val="150000"/>
                </a:lnSpc>
                <a:defRPr/>
              </a:pPr>
              <a:r>
                <a:rPr kumimoji="1" lang="zh-CN" altLang="en-US" sz="105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裸模型</a:t>
              </a:r>
              <a:r>
                <a:rPr kumimoji="1" lang="en-US" altLang="zh-CN" sz="105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A4FE1EC-8E85-479A-90AD-650700B04C6D}"/>
                </a:ext>
              </a:extLst>
            </p:cNvPr>
            <p:cNvSpPr txBox="1"/>
            <p:nvPr/>
          </p:nvSpPr>
          <p:spPr>
            <a:xfrm>
              <a:off x="4732359" y="5932695"/>
              <a:ext cx="513527" cy="4562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3303">
                <a:lnSpc>
                  <a:spcPct val="150000"/>
                </a:lnSpc>
                <a:defRPr/>
              </a:pPr>
              <a:r>
                <a:rPr kumimoji="1" lang="zh-CN" altLang="en-US" sz="105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封装后</a:t>
              </a:r>
              <a:r>
                <a:rPr kumimoji="1" lang="en-US" altLang="zh-CN" sz="105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6C41CFF8-F59B-4ADB-91AA-7ACCD98572CB}"/>
                </a:ext>
              </a:extLst>
            </p:cNvPr>
            <p:cNvSpPr txBox="1"/>
            <p:nvPr/>
          </p:nvSpPr>
          <p:spPr>
            <a:xfrm>
              <a:off x="3877726" y="5523696"/>
              <a:ext cx="634532" cy="2138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3303">
                <a:lnSpc>
                  <a:spcPct val="150000"/>
                </a:lnSpc>
                <a:defRPr/>
              </a:pPr>
              <a:r>
                <a:rPr kumimoji="1" lang="zh-CN" altLang="en-US" sz="105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实现方式</a:t>
              </a:r>
              <a:endParaRPr kumimoji="1" lang="en-US" altLang="zh-CN" sz="10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BFACEC1A-62DE-4819-B491-F2399B6CD501}"/>
              </a:ext>
            </a:extLst>
          </p:cNvPr>
          <p:cNvGrpSpPr/>
          <p:nvPr/>
        </p:nvGrpSpPr>
        <p:grpSpPr>
          <a:xfrm>
            <a:off x="6100546" y="1688554"/>
            <a:ext cx="599695" cy="846549"/>
            <a:chOff x="3524982" y="1572180"/>
            <a:chExt cx="599695" cy="846549"/>
          </a:xfrm>
        </p:grpSpPr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458B4A5B-6FAA-4574-890F-BCD09D765188}"/>
                </a:ext>
              </a:extLst>
            </p:cNvPr>
            <p:cNvSpPr/>
            <p:nvPr/>
          </p:nvSpPr>
          <p:spPr>
            <a:xfrm>
              <a:off x="3524982" y="1572180"/>
              <a:ext cx="599695" cy="846549"/>
            </a:xfrm>
            <a:prstGeom prst="roundRect">
              <a:avLst>
                <a:gd name="adj" fmla="val 10451"/>
              </a:avLst>
            </a:prstGeom>
            <a:solidFill>
              <a:srgbClr val="FEFEFE"/>
            </a:solidFill>
            <a:ln>
              <a:solidFill>
                <a:srgbClr val="ABB1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5D4F9D93-B337-4231-8398-13816B52A365}"/>
                </a:ext>
              </a:extLst>
            </p:cNvPr>
            <p:cNvSpPr txBox="1"/>
            <p:nvPr/>
          </p:nvSpPr>
          <p:spPr>
            <a:xfrm>
              <a:off x="3524982" y="1660922"/>
              <a:ext cx="599695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3303">
                <a:defRPr/>
              </a:pPr>
              <a:r>
                <a:rPr kumimoji="1" lang="en-US" altLang="zh-CN" sz="800" b="1" kern="0" dirty="0">
                  <a:solidFill>
                    <a:srgbClr val="02226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User query</a:t>
              </a:r>
            </a:p>
            <a:p>
              <a:pPr algn="ctr" defTabSz="913303">
                <a:defRPr/>
              </a:pPr>
              <a:r>
                <a:rPr kumimoji="1" lang="zh-CN" altLang="en-US" sz="900" b="1" kern="0" dirty="0">
                  <a:solidFill>
                    <a:srgbClr val="02226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用户输入</a:t>
              </a:r>
              <a:endParaRPr kumimoji="1" lang="en-US" altLang="zh-CN" sz="900" b="1" kern="0" dirty="0">
                <a:solidFill>
                  <a:srgbClr val="02226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1" name="图形 130" descr="聊天气泡 纯色填充">
              <a:extLst>
                <a:ext uri="{FF2B5EF4-FFF2-40B4-BE49-F238E27FC236}">
                  <a16:creationId xmlns:a16="http://schemas.microsoft.com/office/drawing/2014/main" id="{041CDAA3-D112-4D84-83DC-2EDE92B19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02819" y="1958598"/>
              <a:ext cx="444019" cy="444019"/>
            </a:xfrm>
            <a:prstGeom prst="rect">
              <a:avLst/>
            </a:prstGeom>
          </p:spPr>
        </p:pic>
      </p:grp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BCFA425B-7689-48AD-8ADF-84E0600ED81E}"/>
              </a:ext>
            </a:extLst>
          </p:cNvPr>
          <p:cNvSpPr/>
          <p:nvPr/>
        </p:nvSpPr>
        <p:spPr>
          <a:xfrm>
            <a:off x="6969125" y="1688992"/>
            <a:ext cx="921921" cy="1618911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FD5B02F9-A96E-49D7-A568-67E8B5C242D9}"/>
              </a:ext>
            </a:extLst>
          </p:cNvPr>
          <p:cNvSpPr txBox="1"/>
          <p:nvPr/>
        </p:nvSpPr>
        <p:spPr>
          <a:xfrm>
            <a:off x="7009402" y="1782624"/>
            <a:ext cx="84136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303">
              <a:defRPr/>
            </a:pPr>
            <a:r>
              <a:rPr kumimoji="1" lang="en-US" altLang="zh-CN" sz="900" b="1" kern="0" dirty="0">
                <a:solidFill>
                  <a:srgbClr val="0222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900" b="1" kern="0" dirty="0">
                <a:solidFill>
                  <a:srgbClr val="0222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任务类型识别</a:t>
            </a:r>
            <a:endParaRPr kumimoji="1" lang="en-US" altLang="zh-CN" sz="1000" b="1" kern="0" dirty="0">
              <a:solidFill>
                <a:srgbClr val="0222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F4ADA22-4F35-4DF1-8E86-0DF66E170C89}"/>
              </a:ext>
            </a:extLst>
          </p:cNvPr>
          <p:cNvSpPr txBox="1"/>
          <p:nvPr/>
        </p:nvSpPr>
        <p:spPr>
          <a:xfrm>
            <a:off x="7056445" y="2433191"/>
            <a:ext cx="806136" cy="830673"/>
          </a:xfrm>
          <a:prstGeom prst="rect">
            <a:avLst/>
          </a:prstGeom>
          <a:solidFill>
            <a:srgbClr val="FDFDFE"/>
          </a:solidFill>
        </p:spPr>
        <p:txBody>
          <a:bodyPr wrap="square" lIns="0" tIns="0" rIns="0" bIns="0" rtlCol="0">
            <a:spAutoFit/>
          </a:bodyPr>
          <a:lstStyle/>
          <a:p>
            <a:pPr marL="171381" indent="-171381" defTabSz="913303"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检索任务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buFont typeface="Arial" panose="020B0604020202020204" pitchFamily="34" charset="0"/>
              <a:buChar char="•"/>
              <a:defRPr/>
            </a:pP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Planning</a:t>
            </a:r>
          </a:p>
          <a:p>
            <a:pPr marL="171381" indent="-171381" defTabSz="913303">
              <a:buFont typeface="Arial" panose="020B0604020202020204" pitchFamily="34" charset="0"/>
              <a:buChar char="•"/>
              <a:defRPr/>
            </a:pP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Coding</a:t>
            </a:r>
          </a:p>
          <a:p>
            <a:pPr marL="171381" indent="-171381" defTabSz="913303">
              <a:buFont typeface="Arial" panose="020B0604020202020204" pitchFamily="34" charset="0"/>
              <a:buChar char="•"/>
              <a:defRPr/>
            </a:pP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 use</a:t>
            </a:r>
          </a:p>
          <a:p>
            <a:pPr marL="171381" indent="-171381" defTabSz="913303"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推理任务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分类任务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5" name="图形 134" descr="网络 纯色填充">
            <a:extLst>
              <a:ext uri="{FF2B5EF4-FFF2-40B4-BE49-F238E27FC236}">
                <a16:creationId xmlns:a16="http://schemas.microsoft.com/office/drawing/2014/main" id="{665D1A6E-287C-4A14-825F-8F97B60DB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8962" y="1910128"/>
            <a:ext cx="514887" cy="514887"/>
          </a:xfrm>
          <a:prstGeom prst="rect">
            <a:avLst/>
          </a:prstGeom>
        </p:spPr>
      </p:pic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BCCC5D37-9AB0-4883-A3C2-87AEDE959DFE}"/>
              </a:ext>
            </a:extLst>
          </p:cNvPr>
          <p:cNvSpPr/>
          <p:nvPr/>
        </p:nvSpPr>
        <p:spPr>
          <a:xfrm>
            <a:off x="8121627" y="1688554"/>
            <a:ext cx="921921" cy="1618911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19E1114-925C-4F68-8A54-65419C9442B7}"/>
              </a:ext>
            </a:extLst>
          </p:cNvPr>
          <p:cNvSpPr txBox="1"/>
          <p:nvPr/>
        </p:nvSpPr>
        <p:spPr>
          <a:xfrm>
            <a:off x="8305552" y="1779251"/>
            <a:ext cx="677290" cy="13844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en-US" altLang="zh-CN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难度估计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2D6EC97D-8D42-44CE-BD65-6DF79F763E44}"/>
              </a:ext>
            </a:extLst>
          </p:cNvPr>
          <p:cNvSpPr/>
          <p:nvPr/>
        </p:nvSpPr>
        <p:spPr>
          <a:xfrm>
            <a:off x="9282211" y="1694271"/>
            <a:ext cx="921921" cy="1618911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D4A0A721-353C-47DF-A6A7-29E2AF421CBF}"/>
              </a:ext>
            </a:extLst>
          </p:cNvPr>
          <p:cNvSpPr/>
          <p:nvPr/>
        </p:nvSpPr>
        <p:spPr>
          <a:xfrm>
            <a:off x="10438767" y="1688992"/>
            <a:ext cx="1045851" cy="1618911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40" name="图形 139" descr="打开的书 纯色填充">
            <a:extLst>
              <a:ext uri="{FF2B5EF4-FFF2-40B4-BE49-F238E27FC236}">
                <a16:creationId xmlns:a16="http://schemas.microsoft.com/office/drawing/2014/main" id="{9C9A1017-A0CD-463C-AED1-EEE88758A3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85727" y="1912437"/>
            <a:ext cx="514887" cy="514887"/>
          </a:xfrm>
          <a:prstGeom prst="rect">
            <a:avLst/>
          </a:prstGeom>
        </p:spPr>
      </p:pic>
      <p:pic>
        <p:nvPicPr>
          <p:cNvPr id="141" name="图形 140" descr="饼图 纯色填充">
            <a:extLst>
              <a:ext uri="{FF2B5EF4-FFF2-40B4-BE49-F238E27FC236}">
                <a16:creationId xmlns:a16="http://schemas.microsoft.com/office/drawing/2014/main" id="{59C5B3CE-26F0-4A1A-92BB-E8A7489045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15226" y="1887418"/>
            <a:ext cx="492931" cy="492931"/>
          </a:xfrm>
          <a:prstGeom prst="rect">
            <a:avLst/>
          </a:prstGeom>
        </p:spPr>
      </p:pic>
      <p:sp>
        <p:nvSpPr>
          <p:cNvPr id="142" name="文本框 141">
            <a:extLst>
              <a:ext uri="{FF2B5EF4-FFF2-40B4-BE49-F238E27FC236}">
                <a16:creationId xmlns:a16="http://schemas.microsoft.com/office/drawing/2014/main" id="{E8D3FC65-114C-4D0A-B1CC-DCFECFA84B6F}"/>
              </a:ext>
            </a:extLst>
          </p:cNvPr>
          <p:cNvSpPr txBox="1"/>
          <p:nvPr/>
        </p:nvSpPr>
        <p:spPr>
          <a:xfrm>
            <a:off x="8186153" y="2434781"/>
            <a:ext cx="806136" cy="816571"/>
          </a:xfrm>
          <a:prstGeom prst="rect">
            <a:avLst/>
          </a:prstGeom>
          <a:solidFill>
            <a:srgbClr val="FDFDFE"/>
          </a:solidFill>
        </p:spPr>
        <p:txBody>
          <a:bodyPr wrap="square" lIns="0" tIns="0" rIns="0" bIns="0" rtlCol="0">
            <a:spAutoFit/>
          </a:bodyPr>
          <a:lstStyle/>
          <a:p>
            <a:pPr marL="171381" indent="-171381" defTabSz="91330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语义复杂度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工具复杂度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推理深度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风险等级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历史统计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D457B127-8A6C-424D-A296-1723C7395AF3}"/>
              </a:ext>
            </a:extLst>
          </p:cNvPr>
          <p:cNvSpPr txBox="1"/>
          <p:nvPr/>
        </p:nvSpPr>
        <p:spPr>
          <a:xfrm>
            <a:off x="9308257" y="2383033"/>
            <a:ext cx="886655" cy="9034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381" indent="-171381" defTabSz="913303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学习最优预算策略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Budget = f(task, difficulty, history)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3CDE55B-43F4-48AC-AE3F-353B20C4A7D4}"/>
              </a:ext>
            </a:extLst>
          </p:cNvPr>
          <p:cNvSpPr txBox="1"/>
          <p:nvPr/>
        </p:nvSpPr>
        <p:spPr>
          <a:xfrm>
            <a:off x="10488988" y="2484530"/>
            <a:ext cx="980801" cy="750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381" indent="-171381" defTabSz="913303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Planning</a:t>
            </a: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反思预算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</a:t>
            </a: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验证预算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03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全局总预算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4391AFA4-E13B-4E8E-AB07-F15AEF8E0F2A}"/>
              </a:ext>
            </a:extLst>
          </p:cNvPr>
          <p:cNvSpPr txBox="1"/>
          <p:nvPr/>
        </p:nvSpPr>
        <p:spPr>
          <a:xfrm>
            <a:off x="9308257" y="1789549"/>
            <a:ext cx="895875" cy="1384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en-US" altLang="zh-CN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历史轨迹映射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52C6939F-EEAB-4B8A-92D2-D7B1ACFAEBBC}"/>
              </a:ext>
            </a:extLst>
          </p:cNvPr>
          <p:cNvSpPr txBox="1"/>
          <p:nvPr/>
        </p:nvSpPr>
        <p:spPr>
          <a:xfrm>
            <a:off x="10499392" y="1779690"/>
            <a:ext cx="985226" cy="1384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en-US" altLang="zh-CN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动态预算分配器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7" name="图形 146" descr="条形图 纯色填充">
            <a:extLst>
              <a:ext uri="{FF2B5EF4-FFF2-40B4-BE49-F238E27FC236}">
                <a16:creationId xmlns:a16="http://schemas.microsoft.com/office/drawing/2014/main" id="{935B15D9-1DA9-4C7C-8944-14EFAE7DB6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4179" y="1885731"/>
            <a:ext cx="547022" cy="547022"/>
          </a:xfrm>
          <a:prstGeom prst="rect">
            <a:avLst/>
          </a:prstGeom>
        </p:spPr>
      </p:pic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DC22C361-7B36-4851-BEEB-E72B66E5F826}"/>
              </a:ext>
            </a:extLst>
          </p:cNvPr>
          <p:cNvSpPr/>
          <p:nvPr/>
        </p:nvSpPr>
        <p:spPr>
          <a:xfrm>
            <a:off x="6170683" y="3545068"/>
            <a:ext cx="2289548" cy="963349"/>
          </a:xfrm>
          <a:prstGeom prst="roundRect">
            <a:avLst>
              <a:gd name="adj" fmla="val 5880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8CCA7769-6598-4AE5-A629-C54D2D80FF81}"/>
              </a:ext>
            </a:extLst>
          </p:cNvPr>
          <p:cNvSpPr/>
          <p:nvPr/>
        </p:nvSpPr>
        <p:spPr>
          <a:xfrm>
            <a:off x="8828241" y="3545068"/>
            <a:ext cx="2650056" cy="963349"/>
          </a:xfrm>
          <a:prstGeom prst="roundRect">
            <a:avLst>
              <a:gd name="adj" fmla="val 703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7D50E895-7D6C-4B8B-933A-F74B0C2441E6}"/>
              </a:ext>
            </a:extLst>
          </p:cNvPr>
          <p:cNvSpPr/>
          <p:nvPr/>
        </p:nvSpPr>
        <p:spPr>
          <a:xfrm>
            <a:off x="6127104" y="4726575"/>
            <a:ext cx="2338407" cy="618533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C165D489-934E-46C4-93AD-B0C345725FD6}"/>
              </a:ext>
            </a:extLst>
          </p:cNvPr>
          <p:cNvSpPr/>
          <p:nvPr/>
        </p:nvSpPr>
        <p:spPr>
          <a:xfrm>
            <a:off x="6120700" y="5563267"/>
            <a:ext cx="2338408" cy="656458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6A6C4451-F016-42CA-ABD1-375D16817842}"/>
              </a:ext>
            </a:extLst>
          </p:cNvPr>
          <p:cNvSpPr/>
          <p:nvPr/>
        </p:nvSpPr>
        <p:spPr>
          <a:xfrm>
            <a:off x="8784188" y="4824939"/>
            <a:ext cx="2694109" cy="1394786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510CD0F3-909E-4216-B749-E031E6EF3237}"/>
              </a:ext>
            </a:extLst>
          </p:cNvPr>
          <p:cNvSpPr txBox="1"/>
          <p:nvPr/>
        </p:nvSpPr>
        <p:spPr>
          <a:xfrm>
            <a:off x="6434000" y="3619371"/>
            <a:ext cx="1952082" cy="13844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en-US" altLang="zh-CN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LAM</a:t>
            </a: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推理引擎（</a:t>
            </a:r>
            <a:r>
              <a:rPr kumimoji="1" lang="en-US" altLang="zh-CN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e.g., Qwen3.6</a:t>
            </a: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8D7CF9FB-4C6C-4414-B63B-83F8DF74CBE6}"/>
              </a:ext>
            </a:extLst>
          </p:cNvPr>
          <p:cNvSpPr/>
          <p:nvPr/>
        </p:nvSpPr>
        <p:spPr>
          <a:xfrm>
            <a:off x="6101226" y="3884645"/>
            <a:ext cx="363719" cy="491825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5" name="图形 154" descr="灯泡和齿轮 纯色填充">
            <a:extLst>
              <a:ext uri="{FF2B5EF4-FFF2-40B4-BE49-F238E27FC236}">
                <a16:creationId xmlns:a16="http://schemas.microsoft.com/office/drawing/2014/main" id="{961E9D00-A8FB-4949-AB2B-F303FD40DC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21824" y="3921518"/>
            <a:ext cx="312176" cy="312176"/>
          </a:xfrm>
          <a:prstGeom prst="rect">
            <a:avLst/>
          </a:prstGeom>
        </p:spPr>
      </p:pic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C6308303-69D0-41AE-A4D8-0128237418E7}"/>
              </a:ext>
            </a:extLst>
          </p:cNvPr>
          <p:cNvSpPr/>
          <p:nvPr/>
        </p:nvSpPr>
        <p:spPr>
          <a:xfrm>
            <a:off x="6526461" y="3892456"/>
            <a:ext cx="363719" cy="491825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137AA987-C73A-4A98-8F21-B9B3B137C773}"/>
              </a:ext>
            </a:extLst>
          </p:cNvPr>
          <p:cNvSpPr/>
          <p:nvPr/>
        </p:nvSpPr>
        <p:spPr>
          <a:xfrm>
            <a:off x="6978457" y="3897468"/>
            <a:ext cx="363719" cy="491825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0307AEA2-BD70-45D4-A141-5AEDC5833B83}"/>
              </a:ext>
            </a:extLst>
          </p:cNvPr>
          <p:cNvSpPr/>
          <p:nvPr/>
        </p:nvSpPr>
        <p:spPr>
          <a:xfrm>
            <a:off x="7428736" y="3891569"/>
            <a:ext cx="363719" cy="491825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611E1959-1DF0-464E-9126-253EC18C0FC4}"/>
              </a:ext>
            </a:extLst>
          </p:cNvPr>
          <p:cNvSpPr/>
          <p:nvPr/>
        </p:nvSpPr>
        <p:spPr>
          <a:xfrm>
            <a:off x="7869466" y="3891569"/>
            <a:ext cx="363719" cy="491825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0" name="矩形: 圆角 159">
            <a:extLst>
              <a:ext uri="{FF2B5EF4-FFF2-40B4-BE49-F238E27FC236}">
                <a16:creationId xmlns:a16="http://schemas.microsoft.com/office/drawing/2014/main" id="{A735D207-8D4A-4B5D-B7C8-DF76A0A47874}"/>
              </a:ext>
            </a:extLst>
          </p:cNvPr>
          <p:cNvSpPr/>
          <p:nvPr/>
        </p:nvSpPr>
        <p:spPr>
          <a:xfrm>
            <a:off x="8316877" y="3889568"/>
            <a:ext cx="363719" cy="491825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61" name="图形 160" descr="原子 纯色填充">
            <a:extLst>
              <a:ext uri="{FF2B5EF4-FFF2-40B4-BE49-F238E27FC236}">
                <a16:creationId xmlns:a16="http://schemas.microsoft.com/office/drawing/2014/main" id="{8A332194-4E67-4573-B18E-A133D660512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42306" y="3910651"/>
            <a:ext cx="363719" cy="363719"/>
          </a:xfrm>
          <a:prstGeom prst="rect">
            <a:avLst/>
          </a:prstGeom>
        </p:spPr>
      </p:pic>
      <p:pic>
        <p:nvPicPr>
          <p:cNvPr id="162" name="图形 161" descr="靶心 纯色填充">
            <a:extLst>
              <a:ext uri="{FF2B5EF4-FFF2-40B4-BE49-F238E27FC236}">
                <a16:creationId xmlns:a16="http://schemas.microsoft.com/office/drawing/2014/main" id="{32F64209-9ED8-486A-85AF-E6488E0A7AB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75092" y="3960815"/>
            <a:ext cx="279533" cy="279533"/>
          </a:xfrm>
          <a:prstGeom prst="rect">
            <a:avLst/>
          </a:prstGeom>
        </p:spPr>
      </p:pic>
      <p:pic>
        <p:nvPicPr>
          <p:cNvPr id="163" name="图形 162" descr="齿轮 纯色填充">
            <a:extLst>
              <a:ext uri="{FF2B5EF4-FFF2-40B4-BE49-F238E27FC236}">
                <a16:creationId xmlns:a16="http://schemas.microsoft.com/office/drawing/2014/main" id="{90B7C87D-9F84-4504-B784-5FDB25DAD39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87743" y="3912651"/>
            <a:ext cx="327147" cy="327147"/>
          </a:xfrm>
          <a:prstGeom prst="rect">
            <a:avLst/>
          </a:prstGeom>
        </p:spPr>
      </p:pic>
      <p:pic>
        <p:nvPicPr>
          <p:cNvPr id="164" name="图形 163" descr="列表 纯色填充">
            <a:extLst>
              <a:ext uri="{FF2B5EF4-FFF2-40B4-BE49-F238E27FC236}">
                <a16:creationId xmlns:a16="http://schemas.microsoft.com/office/drawing/2014/main" id="{E651A7DD-8E63-4831-907E-F9CBFB472E84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30371" y="3920268"/>
            <a:ext cx="329881" cy="329881"/>
          </a:xfrm>
          <a:prstGeom prst="rect">
            <a:avLst/>
          </a:prstGeom>
        </p:spPr>
      </p:pic>
      <p:pic>
        <p:nvPicPr>
          <p:cNvPr id="165" name="图形 164" descr="工具 纯色填充">
            <a:extLst>
              <a:ext uri="{FF2B5EF4-FFF2-40B4-BE49-F238E27FC236}">
                <a16:creationId xmlns:a16="http://schemas.microsoft.com/office/drawing/2014/main" id="{5EEADFB7-A4B7-463B-B240-C10700BA7A4C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26014" y="3963400"/>
            <a:ext cx="270294" cy="270294"/>
          </a:xfrm>
          <a:prstGeom prst="rect">
            <a:avLst/>
          </a:prstGeom>
        </p:spPr>
      </p:pic>
      <p:sp>
        <p:nvSpPr>
          <p:cNvPr id="166" name="文本框 165">
            <a:extLst>
              <a:ext uri="{FF2B5EF4-FFF2-40B4-BE49-F238E27FC236}">
                <a16:creationId xmlns:a16="http://schemas.microsoft.com/office/drawing/2014/main" id="{E04D06AF-46AA-4D1B-BA10-4C7972241BFE}"/>
              </a:ext>
            </a:extLst>
          </p:cNvPr>
          <p:cNvSpPr txBox="1"/>
          <p:nvPr/>
        </p:nvSpPr>
        <p:spPr>
          <a:xfrm>
            <a:off x="6159380" y="4222024"/>
            <a:ext cx="23873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9A045E51-1217-4234-AD78-C2D579147F01}"/>
              </a:ext>
            </a:extLst>
          </p:cNvPr>
          <p:cNvSpPr txBox="1"/>
          <p:nvPr/>
        </p:nvSpPr>
        <p:spPr>
          <a:xfrm>
            <a:off x="6605602" y="4222023"/>
            <a:ext cx="23873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F5210AE7-3ADF-4617-83EA-903B4641CE29}"/>
              </a:ext>
            </a:extLst>
          </p:cNvPr>
          <p:cNvSpPr txBox="1"/>
          <p:nvPr/>
        </p:nvSpPr>
        <p:spPr>
          <a:xfrm>
            <a:off x="7042287" y="4222022"/>
            <a:ext cx="23873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17110BCC-AD75-41A9-A48C-A12263002E29}"/>
              </a:ext>
            </a:extLst>
          </p:cNvPr>
          <p:cNvSpPr txBox="1"/>
          <p:nvPr/>
        </p:nvSpPr>
        <p:spPr>
          <a:xfrm>
            <a:off x="7501361" y="4222021"/>
            <a:ext cx="23873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AA66883C-BB32-4ECA-8248-0D9DD10E9859}"/>
              </a:ext>
            </a:extLst>
          </p:cNvPr>
          <p:cNvSpPr txBox="1"/>
          <p:nvPr/>
        </p:nvSpPr>
        <p:spPr>
          <a:xfrm>
            <a:off x="7945381" y="4221601"/>
            <a:ext cx="23873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2B6471E6-3E20-4B24-ACDD-B4BA6EBFE33F}"/>
              </a:ext>
            </a:extLst>
          </p:cNvPr>
          <p:cNvSpPr txBox="1"/>
          <p:nvPr/>
        </p:nvSpPr>
        <p:spPr>
          <a:xfrm>
            <a:off x="8387469" y="4223666"/>
            <a:ext cx="23873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85B4F0B-3EDA-4B17-B674-BCF820EAD394}"/>
              </a:ext>
            </a:extLst>
          </p:cNvPr>
          <p:cNvSpPr txBox="1"/>
          <p:nvPr/>
        </p:nvSpPr>
        <p:spPr>
          <a:xfrm>
            <a:off x="9836288" y="3579198"/>
            <a:ext cx="764269" cy="13844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en-US" altLang="zh-CN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实时监控器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3" name="图形 172" descr="社交网络 纯色填充">
            <a:extLst>
              <a:ext uri="{FF2B5EF4-FFF2-40B4-BE49-F238E27FC236}">
                <a16:creationId xmlns:a16="http://schemas.microsoft.com/office/drawing/2014/main" id="{FE875CA2-064C-499B-B778-886A577E37D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021162" y="5625957"/>
            <a:ext cx="464867" cy="464867"/>
          </a:xfrm>
          <a:prstGeom prst="rect">
            <a:avLst/>
          </a:prstGeom>
        </p:spPr>
      </p:pic>
      <p:pic>
        <p:nvPicPr>
          <p:cNvPr id="174" name="图形 173" descr="秒表 纯色填充">
            <a:extLst>
              <a:ext uri="{FF2B5EF4-FFF2-40B4-BE49-F238E27FC236}">
                <a16:creationId xmlns:a16="http://schemas.microsoft.com/office/drawing/2014/main" id="{DEFBDE5A-6AC5-4390-A1B9-57687E7F8850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417751" y="4743983"/>
            <a:ext cx="302387" cy="302387"/>
          </a:xfrm>
          <a:prstGeom prst="rect">
            <a:avLst/>
          </a:prstGeom>
        </p:spPr>
      </p:pic>
      <p:pic>
        <p:nvPicPr>
          <p:cNvPr id="175" name="图形 174" descr="心跳 纯色填充">
            <a:extLst>
              <a:ext uri="{FF2B5EF4-FFF2-40B4-BE49-F238E27FC236}">
                <a16:creationId xmlns:a16="http://schemas.microsoft.com/office/drawing/2014/main" id="{217C1981-A6C3-4572-A052-3233F4527313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558739" y="3476974"/>
            <a:ext cx="359529" cy="359529"/>
          </a:xfrm>
          <a:prstGeom prst="rect">
            <a:avLst/>
          </a:prstGeom>
        </p:spPr>
      </p:pic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9BEDB73D-4D62-476B-9E55-07C16B02FF6F}"/>
              </a:ext>
            </a:extLst>
          </p:cNvPr>
          <p:cNvSpPr/>
          <p:nvPr/>
        </p:nvSpPr>
        <p:spPr>
          <a:xfrm>
            <a:off x="8890036" y="3756900"/>
            <a:ext cx="810976" cy="672416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D61D6EBE-1B29-444F-BBC7-B1140EE082A1}"/>
              </a:ext>
            </a:extLst>
          </p:cNvPr>
          <p:cNvSpPr txBox="1"/>
          <p:nvPr/>
        </p:nvSpPr>
        <p:spPr>
          <a:xfrm>
            <a:off x="8945726" y="3788022"/>
            <a:ext cx="709571" cy="141650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信息增益监控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37D0CF0-B1C6-4FBB-BBA8-0EA99B100E6C}"/>
              </a:ext>
            </a:extLst>
          </p:cNvPr>
          <p:cNvSpPr txBox="1"/>
          <p:nvPr/>
        </p:nvSpPr>
        <p:spPr>
          <a:xfrm>
            <a:off x="8920636" y="4048088"/>
            <a:ext cx="77693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∆ </a:t>
            </a: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Confidence</a:t>
            </a:r>
          </a:p>
          <a:p>
            <a:pPr defTabSz="913303"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∆ </a:t>
            </a: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Tokens</a:t>
            </a: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0647280B-5F0E-41FA-972F-2B1CE5138FE7}"/>
              </a:ext>
            </a:extLst>
          </p:cNvPr>
          <p:cNvSpPr/>
          <p:nvPr/>
        </p:nvSpPr>
        <p:spPr>
          <a:xfrm>
            <a:off x="9751661" y="3756302"/>
            <a:ext cx="810976" cy="672416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6FAAE90F-B28D-4BFB-BC76-1F0089CFFE01}"/>
              </a:ext>
            </a:extLst>
          </p:cNvPr>
          <p:cNvSpPr txBox="1"/>
          <p:nvPr/>
        </p:nvSpPr>
        <p:spPr>
          <a:xfrm>
            <a:off x="10099028" y="3998459"/>
            <a:ext cx="452945" cy="3966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语义重复</a:t>
            </a:r>
            <a:endParaRPr kumimoji="1" lang="en-US" altLang="zh-CN" sz="8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303">
              <a:lnSpc>
                <a:spcPct val="110000"/>
              </a:lnSpc>
              <a:defRPr/>
            </a:pPr>
            <a:r>
              <a:rPr kumimoji="1" lang="zh-CN" altLang="en-US" sz="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工具循环</a:t>
            </a:r>
            <a:endParaRPr kumimoji="1" lang="en-US" altLang="zh-CN" sz="8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303">
              <a:lnSpc>
                <a:spcPct val="110000"/>
              </a:lnSpc>
              <a:defRPr/>
            </a:pPr>
            <a:r>
              <a:rPr kumimoji="1" lang="zh-CN" altLang="en-US" sz="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反思崩溃</a:t>
            </a:r>
            <a:endParaRPr kumimoji="1" lang="en-US" altLang="zh-CN" sz="8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1" name="图形 180" descr="箭头循环 纯色填充">
            <a:extLst>
              <a:ext uri="{FF2B5EF4-FFF2-40B4-BE49-F238E27FC236}">
                <a16:creationId xmlns:a16="http://schemas.microsoft.com/office/drawing/2014/main" id="{6E5239BF-9C8A-4836-9845-5097478F32C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19621" y="3983936"/>
            <a:ext cx="437528" cy="437528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93CA428A-7F16-43E7-B213-2A3B4BB17257}"/>
              </a:ext>
            </a:extLst>
          </p:cNvPr>
          <p:cNvSpPr txBox="1"/>
          <p:nvPr/>
        </p:nvSpPr>
        <p:spPr>
          <a:xfrm>
            <a:off x="9949847" y="3785590"/>
            <a:ext cx="503595" cy="141650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循环检测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181B7502-1C03-4D34-9059-B6AF8A69209F}"/>
              </a:ext>
            </a:extLst>
          </p:cNvPr>
          <p:cNvSpPr/>
          <p:nvPr/>
        </p:nvSpPr>
        <p:spPr>
          <a:xfrm>
            <a:off x="10613327" y="3764373"/>
            <a:ext cx="810976" cy="672416"/>
          </a:xfrm>
          <a:prstGeom prst="roundRect">
            <a:avLst>
              <a:gd name="adj" fmla="val 10451"/>
            </a:avLst>
          </a:prstGeom>
          <a:solidFill>
            <a:srgbClr val="FEFEFE"/>
          </a:solidFill>
          <a:ln>
            <a:solidFill>
              <a:srgbClr val="ABB1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84C4A3E9-221A-4B8C-B7EF-AA0A5FF45CC7}"/>
              </a:ext>
            </a:extLst>
          </p:cNvPr>
          <p:cNvSpPr txBox="1"/>
          <p:nvPr/>
        </p:nvSpPr>
        <p:spPr>
          <a:xfrm>
            <a:off x="11019397" y="4080895"/>
            <a:ext cx="373526" cy="228628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7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不确定性变化趋势</a:t>
            </a:r>
            <a:endParaRPr kumimoji="1" lang="en-US" altLang="zh-CN" sz="7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5" name="图形 184" descr="下降趋势图 纯色填充">
            <a:extLst>
              <a:ext uri="{FF2B5EF4-FFF2-40B4-BE49-F238E27FC236}">
                <a16:creationId xmlns:a16="http://schemas.microsoft.com/office/drawing/2014/main" id="{B4302F6C-0F19-4ADE-B119-4BD21969149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630926" y="3975650"/>
            <a:ext cx="427589" cy="427589"/>
          </a:xfrm>
          <a:prstGeom prst="rect">
            <a:avLst/>
          </a:prstGeom>
        </p:spPr>
      </p:pic>
      <p:sp>
        <p:nvSpPr>
          <p:cNvPr id="186" name="文本框 185">
            <a:extLst>
              <a:ext uri="{FF2B5EF4-FFF2-40B4-BE49-F238E27FC236}">
                <a16:creationId xmlns:a16="http://schemas.microsoft.com/office/drawing/2014/main" id="{684D7B1A-0648-4CE8-8B6E-1EDE49FB0496}"/>
              </a:ext>
            </a:extLst>
          </p:cNvPr>
          <p:cNvSpPr txBox="1"/>
          <p:nvPr/>
        </p:nvSpPr>
        <p:spPr>
          <a:xfrm>
            <a:off x="10751274" y="3785590"/>
            <a:ext cx="614483" cy="141650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熵变化监控</a:t>
            </a:r>
            <a:endParaRPr kumimoji="1" lang="en-US" altLang="zh-CN" sz="9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F7010613-606E-45DC-A8E4-496D6A84E4EE}"/>
              </a:ext>
            </a:extLst>
          </p:cNvPr>
          <p:cNvSpPr txBox="1"/>
          <p:nvPr/>
        </p:nvSpPr>
        <p:spPr>
          <a:xfrm>
            <a:off x="6329609" y="5050143"/>
            <a:ext cx="1982255" cy="261418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10000"/>
              </a:lnSpc>
              <a:defRPr/>
            </a:pP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综合考虑：预算使用情况 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信息增益 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循环风险 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熵变化 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置信度</a:t>
            </a:r>
            <a:endParaRPr kumimoji="1" lang="en-US" altLang="zh-CN" sz="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320404FE-4828-4A0A-A6F6-74AC6443F0B1}"/>
              </a:ext>
            </a:extLst>
          </p:cNvPr>
          <p:cNvSpPr txBox="1"/>
          <p:nvPr/>
        </p:nvSpPr>
        <p:spPr>
          <a:xfrm>
            <a:off x="6859905" y="4784376"/>
            <a:ext cx="961770" cy="13844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defRPr/>
            </a:pPr>
            <a:r>
              <a:rPr kumimoji="1" lang="en-US" altLang="zh-CN" sz="900" b="1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 </a:t>
            </a:r>
            <a:r>
              <a:rPr kumimoji="1" lang="zh-CN" altLang="en-US" sz="900" b="1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自适应终止器</a:t>
            </a:r>
            <a:endParaRPr kumimoji="1" lang="en-US" altLang="zh-CN" sz="900" b="1" kern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5776B279-2B30-486C-95DF-516A845E9122}"/>
              </a:ext>
            </a:extLst>
          </p:cNvPr>
          <p:cNvSpPr txBox="1"/>
          <p:nvPr/>
        </p:nvSpPr>
        <p:spPr>
          <a:xfrm>
            <a:off x="6830550" y="5606772"/>
            <a:ext cx="924948" cy="14170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en-US" altLang="zh-CN" sz="900" b="1" kern="0" dirty="0">
                <a:solidFill>
                  <a:srgbClr val="1838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 </a:t>
            </a:r>
            <a:r>
              <a:rPr kumimoji="1" lang="zh-CN" altLang="en-US" sz="900" b="1" kern="0" dirty="0">
                <a:solidFill>
                  <a:srgbClr val="1838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置信度评估器</a:t>
            </a:r>
            <a:endParaRPr kumimoji="1" lang="en-US" altLang="zh-CN" sz="900" b="1" kern="0" dirty="0">
              <a:solidFill>
                <a:srgbClr val="1838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42F0AA37-7E22-4905-A549-24C22DE643B6}"/>
              </a:ext>
            </a:extLst>
          </p:cNvPr>
          <p:cNvSpPr txBox="1"/>
          <p:nvPr/>
        </p:nvSpPr>
        <p:spPr>
          <a:xfrm>
            <a:off x="6211568" y="5915674"/>
            <a:ext cx="2136014" cy="261418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10000"/>
              </a:lnSpc>
              <a:defRPr/>
            </a:pPr>
            <a:r>
              <a:rPr kumimoji="1" lang="en-US" altLang="zh-CN" sz="800" b="1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Logprobs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概率）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一致性 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不确定性 </a:t>
            </a:r>
            <a:r>
              <a:rPr kumimoji="1" lang="en-US" altLang="zh-CN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工具准确性</a:t>
            </a:r>
            <a:endParaRPr kumimoji="1" lang="en-US" altLang="zh-CN" sz="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1" name="图形 190" descr="法槌 纯色填充">
            <a:extLst>
              <a:ext uri="{FF2B5EF4-FFF2-40B4-BE49-F238E27FC236}">
                <a16:creationId xmlns:a16="http://schemas.microsoft.com/office/drawing/2014/main" id="{D6F5779B-29BC-4E51-9426-26CC553E780D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393371" y="5590834"/>
            <a:ext cx="315285" cy="315285"/>
          </a:xfrm>
          <a:prstGeom prst="rect">
            <a:avLst/>
          </a:prstGeom>
        </p:spPr>
      </p:pic>
      <p:sp>
        <p:nvSpPr>
          <p:cNvPr id="192" name="文本框 191">
            <a:extLst>
              <a:ext uri="{FF2B5EF4-FFF2-40B4-BE49-F238E27FC236}">
                <a16:creationId xmlns:a16="http://schemas.microsoft.com/office/drawing/2014/main" id="{4DE6C13D-D4A7-431D-B084-06505ABF7A66}"/>
              </a:ext>
            </a:extLst>
          </p:cNvPr>
          <p:cNvSpPr txBox="1"/>
          <p:nvPr/>
        </p:nvSpPr>
        <p:spPr>
          <a:xfrm>
            <a:off x="8921949" y="5438418"/>
            <a:ext cx="671151" cy="14170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en-US" altLang="zh-CN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 </a:t>
            </a:r>
            <a:r>
              <a:rPr kumimoji="1" lang="zh-CN" altLang="en-US" sz="900" b="1" kern="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决策模块</a:t>
            </a:r>
            <a:endParaRPr kumimoji="1" lang="en-US" altLang="zh-CN" sz="900" b="1" kern="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1B279E82-CDD4-4CFC-9027-2D92C2F8E649}"/>
              </a:ext>
            </a:extLst>
          </p:cNvPr>
          <p:cNvSpPr/>
          <p:nvPr/>
        </p:nvSpPr>
        <p:spPr>
          <a:xfrm>
            <a:off x="10065077" y="4767000"/>
            <a:ext cx="1264910" cy="447624"/>
          </a:xfrm>
          <a:prstGeom prst="roundRect">
            <a:avLst>
              <a:gd name="adj" fmla="val 10451"/>
            </a:avLst>
          </a:prstGeom>
          <a:solidFill>
            <a:schemeClr val="tx2"/>
          </a:solidFill>
          <a:ln>
            <a:solidFill>
              <a:srgbClr val="4986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E95F206A-E591-4B6C-B4DF-06B4F587892F}"/>
              </a:ext>
            </a:extLst>
          </p:cNvPr>
          <p:cNvSpPr/>
          <p:nvPr/>
        </p:nvSpPr>
        <p:spPr>
          <a:xfrm>
            <a:off x="10064570" y="5291052"/>
            <a:ext cx="1265417" cy="447624"/>
          </a:xfrm>
          <a:prstGeom prst="roundRect">
            <a:avLst>
              <a:gd name="adj" fmla="val 10451"/>
            </a:avLst>
          </a:prstGeom>
          <a:solidFill>
            <a:schemeClr val="tx2"/>
          </a:solidFill>
          <a:ln>
            <a:solidFill>
              <a:srgbClr val="FBC8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D94AC386-DCCC-4046-AE78-94C0938174B6}"/>
              </a:ext>
            </a:extLst>
          </p:cNvPr>
          <p:cNvSpPr/>
          <p:nvPr/>
        </p:nvSpPr>
        <p:spPr>
          <a:xfrm>
            <a:off x="10063782" y="5801570"/>
            <a:ext cx="1264909" cy="447624"/>
          </a:xfrm>
          <a:prstGeom prst="roundRect">
            <a:avLst>
              <a:gd name="adj" fmla="val 10451"/>
            </a:avLst>
          </a:prstGeom>
          <a:solidFill>
            <a:schemeClr val="tx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1F3E8454-BED9-45E4-A23A-60D7F98C326E}"/>
              </a:ext>
            </a:extLst>
          </p:cNvPr>
          <p:cNvSpPr txBox="1"/>
          <p:nvPr/>
        </p:nvSpPr>
        <p:spPr>
          <a:xfrm>
            <a:off x="10325500" y="4793265"/>
            <a:ext cx="750807" cy="141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高置信度</a:t>
            </a:r>
            <a:endParaRPr kumimoji="1" lang="en-US" altLang="zh-CN" sz="900" b="1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DDBCCD11-9193-463A-BCD8-E11ADE30DF17}"/>
              </a:ext>
            </a:extLst>
          </p:cNvPr>
          <p:cNvSpPr txBox="1"/>
          <p:nvPr/>
        </p:nvSpPr>
        <p:spPr>
          <a:xfrm>
            <a:off x="10329207" y="5023735"/>
            <a:ext cx="700434" cy="14170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直接输出结果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45461E32-3018-4E5F-A5DB-1B722D91F718}"/>
              </a:ext>
            </a:extLst>
          </p:cNvPr>
          <p:cNvSpPr txBox="1"/>
          <p:nvPr/>
        </p:nvSpPr>
        <p:spPr>
          <a:xfrm>
            <a:off x="10262571" y="5334524"/>
            <a:ext cx="805496" cy="141650"/>
          </a:xfrm>
          <a:prstGeom prst="rect">
            <a:avLst/>
          </a:prstGeom>
          <a:solidFill>
            <a:srgbClr val="FDFCF8"/>
          </a:solidFill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中等置信度</a:t>
            </a:r>
            <a:endParaRPr kumimoji="1" lang="en-US" altLang="zh-CN" sz="900" b="1" kern="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EDBB0B6B-4681-43F8-8138-8B1D209CEEDF}"/>
              </a:ext>
            </a:extLst>
          </p:cNvPr>
          <p:cNvSpPr txBox="1"/>
          <p:nvPr/>
        </p:nvSpPr>
        <p:spPr>
          <a:xfrm>
            <a:off x="10094056" y="5546584"/>
            <a:ext cx="1265417" cy="1417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再思考一次（深度推理）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CAC8A4E-4407-4C3A-8338-FF0D72D88ADA}"/>
              </a:ext>
            </a:extLst>
          </p:cNvPr>
          <p:cNvSpPr txBox="1"/>
          <p:nvPr/>
        </p:nvSpPr>
        <p:spPr>
          <a:xfrm>
            <a:off x="10241307" y="5849568"/>
            <a:ext cx="884611" cy="141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低置信度</a:t>
            </a:r>
            <a:endParaRPr kumimoji="1" lang="en-US" altLang="zh-CN" sz="9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7DC4A082-89F4-4F90-9CC6-F1DDDD065D91}"/>
              </a:ext>
            </a:extLst>
          </p:cNvPr>
          <p:cNvSpPr txBox="1"/>
          <p:nvPr/>
        </p:nvSpPr>
        <p:spPr>
          <a:xfrm>
            <a:off x="10153269" y="6059917"/>
            <a:ext cx="1150021" cy="141705"/>
          </a:xfrm>
          <a:prstGeom prst="rect">
            <a:avLst/>
          </a:prstGeom>
          <a:solidFill>
            <a:srgbClr val="FEFBFC"/>
          </a:solidFill>
        </p:spPr>
        <p:txBody>
          <a:bodyPr wrap="square" lIns="0" tIns="0" rIns="0" bIns="0" rtlCol="0">
            <a:spAutoFit/>
          </a:bodyPr>
          <a:lstStyle/>
          <a:p>
            <a:pPr defTabSz="913303">
              <a:lnSpc>
                <a:spcPct val="110000"/>
              </a:lnSpc>
              <a:defRPr/>
            </a:pP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请求澄清 </a:t>
            </a:r>
            <a:r>
              <a:rPr kumimoji="1" lang="en-US" altLang="zh-CN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zh-CN" altLang="en-US" sz="9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人工接管</a:t>
            </a:r>
            <a:endParaRPr kumimoji="1" lang="en-US" altLang="zh-CN" sz="9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463B79B0-F193-424A-A6A5-F8D1D1867970}"/>
              </a:ext>
            </a:extLst>
          </p:cNvPr>
          <p:cNvSpPr/>
          <p:nvPr/>
        </p:nvSpPr>
        <p:spPr>
          <a:xfrm>
            <a:off x="5972706" y="1504934"/>
            <a:ext cx="5574100" cy="4818782"/>
          </a:xfrm>
          <a:prstGeom prst="roundRect">
            <a:avLst>
              <a:gd name="adj" fmla="val 1248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63F4DB96-4299-4DD3-850C-985C52AC3678}"/>
              </a:ext>
            </a:extLst>
          </p:cNvPr>
          <p:cNvSpPr txBox="1"/>
          <p:nvPr/>
        </p:nvSpPr>
        <p:spPr>
          <a:xfrm>
            <a:off x="7836370" y="1416226"/>
            <a:ext cx="1612271" cy="177415"/>
          </a:xfrm>
          <a:prstGeom prst="rect">
            <a:avLst/>
          </a:prstGeom>
          <a:solidFill>
            <a:srgbClr val="04449D"/>
          </a:solidFill>
        </p:spPr>
        <p:txBody>
          <a:bodyPr wrap="square" lIns="0" tIns="0" rIns="0" bIns="0" rtlCol="0">
            <a:spAutoFit/>
          </a:bodyPr>
          <a:lstStyle/>
          <a:p>
            <a:pPr algn="ctr" defTabSz="913303">
              <a:lnSpc>
                <a:spcPct val="120000"/>
              </a:lnSpc>
              <a:defRPr/>
            </a:pPr>
            <a:r>
              <a:rPr kumimoji="1" lang="zh-CN" altLang="en-US" sz="105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整体架构图</a:t>
            </a:r>
            <a:endParaRPr kumimoji="1" lang="en-US" altLang="zh-CN" sz="105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C9DADD5E-3610-4B30-A858-9747A1B42CFC}"/>
              </a:ext>
            </a:extLst>
          </p:cNvPr>
          <p:cNvCxnSpPr>
            <a:cxnSpLocks/>
            <a:stCxn id="129" idx="3"/>
          </p:cNvCxnSpPr>
          <p:nvPr/>
        </p:nvCxnSpPr>
        <p:spPr>
          <a:xfrm flipV="1">
            <a:off x="6700241" y="2110020"/>
            <a:ext cx="268884" cy="1809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3293D888-DF7B-4A1F-A546-C669C1E244C2}"/>
              </a:ext>
            </a:extLst>
          </p:cNvPr>
          <p:cNvCxnSpPr>
            <a:cxnSpLocks/>
          </p:cNvCxnSpPr>
          <p:nvPr/>
        </p:nvCxnSpPr>
        <p:spPr>
          <a:xfrm flipV="1">
            <a:off x="7879036" y="2108211"/>
            <a:ext cx="268884" cy="1809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BD6D479-E1C9-4061-B328-03B924E87F33}"/>
              </a:ext>
            </a:extLst>
          </p:cNvPr>
          <p:cNvCxnSpPr>
            <a:cxnSpLocks/>
          </p:cNvCxnSpPr>
          <p:nvPr/>
        </p:nvCxnSpPr>
        <p:spPr>
          <a:xfrm flipV="1">
            <a:off x="9033435" y="2106402"/>
            <a:ext cx="268884" cy="1809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A1CCD81F-FA91-4FA1-A167-24E126499502}"/>
              </a:ext>
            </a:extLst>
          </p:cNvPr>
          <p:cNvCxnSpPr>
            <a:cxnSpLocks/>
          </p:cNvCxnSpPr>
          <p:nvPr/>
        </p:nvCxnSpPr>
        <p:spPr>
          <a:xfrm flipV="1">
            <a:off x="10194633" y="2112545"/>
            <a:ext cx="268884" cy="1809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23A6DF06-F570-41A7-BD45-E1297A8DD863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7430086" y="3307903"/>
            <a:ext cx="0" cy="237165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CBC41A44-7140-4932-BFAB-869658C15738}"/>
              </a:ext>
            </a:extLst>
          </p:cNvPr>
          <p:cNvCxnSpPr>
            <a:cxnSpLocks/>
          </p:cNvCxnSpPr>
          <p:nvPr/>
        </p:nvCxnSpPr>
        <p:spPr>
          <a:xfrm>
            <a:off x="7415209" y="4508417"/>
            <a:ext cx="0" cy="237165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33C58F68-E6CF-4564-B70F-C641B7A2C048}"/>
              </a:ext>
            </a:extLst>
          </p:cNvPr>
          <p:cNvCxnSpPr>
            <a:cxnSpLocks/>
          </p:cNvCxnSpPr>
          <p:nvPr/>
        </p:nvCxnSpPr>
        <p:spPr>
          <a:xfrm>
            <a:off x="7416413" y="5342958"/>
            <a:ext cx="0" cy="237165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B9FD2E90-CD8F-4FF2-BF24-72F3317CD6B8}"/>
              </a:ext>
            </a:extLst>
          </p:cNvPr>
          <p:cNvCxnSpPr>
            <a:cxnSpLocks/>
          </p:cNvCxnSpPr>
          <p:nvPr/>
        </p:nvCxnSpPr>
        <p:spPr>
          <a:xfrm flipV="1">
            <a:off x="8459108" y="5896669"/>
            <a:ext cx="338850" cy="1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BED21C34-6320-48FD-840E-3273BC203ABE}"/>
              </a:ext>
            </a:extLst>
          </p:cNvPr>
          <p:cNvCxnSpPr>
            <a:cxnSpLocks/>
          </p:cNvCxnSpPr>
          <p:nvPr/>
        </p:nvCxnSpPr>
        <p:spPr>
          <a:xfrm>
            <a:off x="10958308" y="3307465"/>
            <a:ext cx="0" cy="237165"/>
          </a:xfrm>
          <a:prstGeom prst="straightConnector1">
            <a:avLst/>
          </a:prstGeom>
          <a:ln w="28575">
            <a:solidFill>
              <a:srgbClr val="293A7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连接符: 曲线 212">
            <a:extLst>
              <a:ext uri="{FF2B5EF4-FFF2-40B4-BE49-F238E27FC236}">
                <a16:creationId xmlns:a16="http://schemas.microsoft.com/office/drawing/2014/main" id="{BCB7C28D-FAF1-45E5-9884-C8FD07C95E3E}"/>
              </a:ext>
            </a:extLst>
          </p:cNvPr>
          <p:cNvCxnSpPr>
            <a:cxnSpLocks/>
            <a:stCxn id="149" idx="2"/>
            <a:endCxn id="156" idx="2"/>
          </p:cNvCxnSpPr>
          <p:nvPr/>
        </p:nvCxnSpPr>
        <p:spPr>
          <a:xfrm rot="5400000" flipH="1">
            <a:off x="8368727" y="2723875"/>
            <a:ext cx="124136" cy="3444948"/>
          </a:xfrm>
          <a:prstGeom prst="curvedConnector3">
            <a:avLst>
              <a:gd name="adj1" fmla="val 7175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连接符: 曲线 213">
            <a:extLst>
              <a:ext uri="{FF2B5EF4-FFF2-40B4-BE49-F238E27FC236}">
                <a16:creationId xmlns:a16="http://schemas.microsoft.com/office/drawing/2014/main" id="{0E257FB1-E77A-4EDF-A821-D5EFF6DD0E65}"/>
              </a:ext>
            </a:extLst>
          </p:cNvPr>
          <p:cNvCxnSpPr>
            <a:cxnSpLocks/>
            <a:stCxn id="149" idx="2"/>
            <a:endCxn id="157" idx="2"/>
          </p:cNvCxnSpPr>
          <p:nvPr/>
        </p:nvCxnSpPr>
        <p:spPr>
          <a:xfrm rot="5400000" flipH="1">
            <a:off x="8597231" y="2952379"/>
            <a:ext cx="119124" cy="2992952"/>
          </a:xfrm>
          <a:prstGeom prst="curvedConnector3">
            <a:avLst>
              <a:gd name="adj1" fmla="val 249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连接符: 曲线 214">
            <a:extLst>
              <a:ext uri="{FF2B5EF4-FFF2-40B4-BE49-F238E27FC236}">
                <a16:creationId xmlns:a16="http://schemas.microsoft.com/office/drawing/2014/main" id="{7CBF780F-0AB5-40F7-9C39-5A65FDBD11B7}"/>
              </a:ext>
            </a:extLst>
          </p:cNvPr>
          <p:cNvCxnSpPr>
            <a:cxnSpLocks/>
            <a:stCxn id="149" idx="2"/>
            <a:endCxn id="158" idx="2"/>
          </p:cNvCxnSpPr>
          <p:nvPr/>
        </p:nvCxnSpPr>
        <p:spPr>
          <a:xfrm rot="5400000" flipH="1">
            <a:off x="8819421" y="3174570"/>
            <a:ext cx="125023" cy="2542673"/>
          </a:xfrm>
          <a:prstGeom prst="curvedConnector3">
            <a:avLst>
              <a:gd name="adj1" fmla="val 2375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连接符: 曲线 215">
            <a:extLst>
              <a:ext uri="{FF2B5EF4-FFF2-40B4-BE49-F238E27FC236}">
                <a16:creationId xmlns:a16="http://schemas.microsoft.com/office/drawing/2014/main" id="{96E90CB2-5AAE-488B-89EE-4DED5D795ED7}"/>
              </a:ext>
            </a:extLst>
          </p:cNvPr>
          <p:cNvCxnSpPr>
            <a:cxnSpLocks/>
            <a:stCxn id="149" idx="2"/>
            <a:endCxn id="159" idx="2"/>
          </p:cNvCxnSpPr>
          <p:nvPr/>
        </p:nvCxnSpPr>
        <p:spPr>
          <a:xfrm rot="5400000" flipH="1">
            <a:off x="9039786" y="3394935"/>
            <a:ext cx="125023" cy="2101943"/>
          </a:xfrm>
          <a:prstGeom prst="curvedConnector3">
            <a:avLst>
              <a:gd name="adj1" fmla="val 2375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连接符: 曲线 216">
            <a:extLst>
              <a:ext uri="{FF2B5EF4-FFF2-40B4-BE49-F238E27FC236}">
                <a16:creationId xmlns:a16="http://schemas.microsoft.com/office/drawing/2014/main" id="{BC977EB8-BC82-48B4-A3D5-850BAD12EF25}"/>
              </a:ext>
            </a:extLst>
          </p:cNvPr>
          <p:cNvCxnSpPr>
            <a:cxnSpLocks/>
            <a:stCxn id="192" idx="3"/>
            <a:endCxn id="193" idx="1"/>
          </p:cNvCxnSpPr>
          <p:nvPr/>
        </p:nvCxnSpPr>
        <p:spPr>
          <a:xfrm flipV="1">
            <a:off x="9593100" y="4990812"/>
            <a:ext cx="471977" cy="51845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连接符: 曲线 217">
            <a:extLst>
              <a:ext uri="{FF2B5EF4-FFF2-40B4-BE49-F238E27FC236}">
                <a16:creationId xmlns:a16="http://schemas.microsoft.com/office/drawing/2014/main" id="{596A344C-7C5E-455B-B81B-166AA1C25E5D}"/>
              </a:ext>
            </a:extLst>
          </p:cNvPr>
          <p:cNvCxnSpPr>
            <a:cxnSpLocks/>
            <a:stCxn id="192" idx="3"/>
            <a:endCxn id="195" idx="1"/>
          </p:cNvCxnSpPr>
          <p:nvPr/>
        </p:nvCxnSpPr>
        <p:spPr>
          <a:xfrm>
            <a:off x="9593100" y="5509271"/>
            <a:ext cx="470682" cy="51611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连接符: 曲线 218">
            <a:extLst>
              <a:ext uri="{FF2B5EF4-FFF2-40B4-BE49-F238E27FC236}">
                <a16:creationId xmlns:a16="http://schemas.microsoft.com/office/drawing/2014/main" id="{D3B912CB-4D8C-46BC-9FF3-B64DC26B075E}"/>
              </a:ext>
            </a:extLst>
          </p:cNvPr>
          <p:cNvCxnSpPr>
            <a:cxnSpLocks/>
            <a:stCxn id="192" idx="3"/>
            <a:endCxn id="194" idx="1"/>
          </p:cNvCxnSpPr>
          <p:nvPr/>
        </p:nvCxnSpPr>
        <p:spPr>
          <a:xfrm>
            <a:off x="9593100" y="5509271"/>
            <a:ext cx="471470" cy="559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矩形: 圆角 219">
            <a:extLst>
              <a:ext uri="{FF2B5EF4-FFF2-40B4-BE49-F238E27FC236}">
                <a16:creationId xmlns:a16="http://schemas.microsoft.com/office/drawing/2014/main" id="{BF3E25F9-A25A-4F67-9357-DAF75134CFC3}"/>
              </a:ext>
            </a:extLst>
          </p:cNvPr>
          <p:cNvSpPr/>
          <p:nvPr/>
        </p:nvSpPr>
        <p:spPr>
          <a:xfrm>
            <a:off x="3671939" y="5043723"/>
            <a:ext cx="2078699" cy="1477460"/>
          </a:xfrm>
          <a:prstGeom prst="roundRect">
            <a:avLst>
              <a:gd name="adj" fmla="val 10451"/>
            </a:avLst>
          </a:prstGeom>
          <a:noFill/>
          <a:ln>
            <a:solidFill>
              <a:srgbClr val="293A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DEA04DD2-3D2F-47BC-824A-59A6160D27BF}"/>
              </a:ext>
            </a:extLst>
          </p:cNvPr>
          <p:cNvCxnSpPr>
            <a:cxnSpLocks/>
          </p:cNvCxnSpPr>
          <p:nvPr/>
        </p:nvCxnSpPr>
        <p:spPr>
          <a:xfrm>
            <a:off x="4840059" y="5720146"/>
            <a:ext cx="16372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文本框 221">
            <a:extLst>
              <a:ext uri="{FF2B5EF4-FFF2-40B4-BE49-F238E27FC236}">
                <a16:creationId xmlns:a16="http://schemas.microsoft.com/office/drawing/2014/main" id="{D6C61B8B-0166-46A0-874F-2876D021E274}"/>
              </a:ext>
            </a:extLst>
          </p:cNvPr>
          <p:cNvSpPr txBox="1"/>
          <p:nvPr/>
        </p:nvSpPr>
        <p:spPr>
          <a:xfrm>
            <a:off x="3806620" y="6184913"/>
            <a:ext cx="1944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特性适配：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NAIE 27.1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版本模型会支持</a:t>
            </a:r>
            <a:r>
              <a:rPr lang="en-US" altLang="zh-CN" sz="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logprobs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</a:p>
        </p:txBody>
      </p:sp>
    </p:spTree>
    <p:extLst>
      <p:ext uri="{BB962C8B-B14F-4D97-AF65-F5344CB8AC3E}">
        <p14:creationId xmlns:p14="http://schemas.microsoft.com/office/powerpoint/2010/main" val="2931255370"/>
      </p:ext>
    </p:extLst>
  </p:cSld>
  <p:clrMapOvr>
    <a:masterClrMapping/>
  </p:clrMapOvr>
</p:sld>
</file>

<file path=ppt/theme/theme1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CFFCC"/>
        </a:solidFill>
        <a:ln>
          <a:solidFill>
            <a:schemeClr val="tx1"/>
          </a:solidFill>
        </a:ln>
      </a:spPr>
      <a:bodyPr rtlCol="0" anchor="ctr"/>
      <a:lstStyle>
        <a:defPPr algn="ctr">
          <a:defRPr>
            <a:solidFill>
              <a:srgbClr val="66666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 w="12700" cap="flat" cmpd="sng" algn="ctr">
          <a:noFill/>
          <a:prstDash val="solid"/>
          <a:miter lim="800000"/>
        </a:ln>
      </a:spPr>
      <a:bodyPr rot="0" spcFirstLastPara="0" vertOverflow="overflow" horzOverflow="overflow" vert="horz" wrap="square" lIns="91332" tIns="45666" rIns="91332" bIns="45666" numCol="1" spcCol="0" rtlCol="0" fromWordArt="0" anchor="ctr" anchorCtr="0" forceAA="0" compatLnSpc="1">
        <a:noAutofit/>
      </a:bodyPr>
      <a:lstStyle>
        <a:defPPr marL="0" marR="0" indent="0" algn="ctr" defTabSz="91313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1" i="0" u="none" strike="noStrike" kern="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34500</TotalTime>
  <Words>597</Words>
  <Application>Microsoft Office PowerPoint</Application>
  <PresentationFormat>宽屏</PresentationFormat>
  <Paragraphs>102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.AppleSystemUIFont</vt:lpstr>
      <vt:lpstr>微软雅黑</vt:lpstr>
      <vt:lpstr>Arial</vt:lpstr>
      <vt:lpstr>Calibri</vt:lpstr>
      <vt:lpstr>Wingdings</vt:lpstr>
      <vt:lpstr>6_Chart page</vt:lpstr>
      <vt:lpstr>1_Chapter page</vt:lpstr>
      <vt:lpstr>23_章节页</vt:lpstr>
      <vt:lpstr>1_章节页</vt:lpstr>
      <vt:lpstr>27_章节页</vt:lpstr>
      <vt:lpstr>3_章节页</vt:lpstr>
      <vt:lpstr>4_章节页</vt:lpstr>
      <vt:lpstr>13_章节页</vt:lpstr>
      <vt:lpstr>7_章节页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liubo (AQ)</dc:creator>
  <cp:lastModifiedBy>pengli (K)</cp:lastModifiedBy>
  <cp:revision>221</cp:revision>
  <dcterms:created xsi:type="dcterms:W3CDTF">2026-05-19T03:36:36Z</dcterms:created>
  <dcterms:modified xsi:type="dcterms:W3CDTF">2026-09-24T03:11:03Z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1778832364</vt:lpwstr>
  </property>
</Properties>
</file>