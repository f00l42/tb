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d42e66a72417c" /><Relationship Type="http://schemas.openxmlformats.org/officeDocument/2006/relationships/extended-properties" Target="/docProps/app.xml" Id="R01f3751f3b9a43ef" /><Relationship Type="http://schemas.openxmlformats.org/officeDocument/2006/relationships/officeDocument" Target="/ppt/presentation.xml" Id="Rc85a2039ce804a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acfb5f6e24a1f"/>
  </p:sldMasterIdLst>
  <p:notesMasterIdLst>
    <p:notesMasterId xmlns:r="http://schemas.openxmlformats.org/officeDocument/2006/relationships" r:id="Rb3c47644ac8845c0"/>
  </p:notesMasterIdLst>
  <p:sldIdLst>
    <p:sldId xmlns:r="http://schemas.openxmlformats.org/officeDocument/2006/relationships" id="256" r:id="R7ada840d95214fd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a905fcf4aa4fab" /><Relationship Type="http://schemas.openxmlformats.org/officeDocument/2006/relationships/slideMaster" Target="/ppt/slideMasters/slideMaster1.xml" Id="R92eacfb5f6e24a1f" /><Relationship Type="http://schemas.openxmlformats.org/officeDocument/2006/relationships/notesMaster" Target="/ppt/notesMasters/notesMaster1.xml" Id="Rb3c47644ac8845c0" /><Relationship Type="http://schemas.openxmlformats.org/officeDocument/2006/relationships/presProps" Target="/ppt/presProps.xml" Id="R8350318d2531460d" /><Relationship Type="http://schemas.openxmlformats.org/officeDocument/2006/relationships/tableStyles" Target="/ppt/tableStyles.xml" Id="R9c0d8b7d2c9c4eff" /><Relationship Type="http://schemas.openxmlformats.org/officeDocument/2006/relationships/slide" Target="/ppt/slides/slide1.xml" Id="R7ada840d9521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68365d4be4c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fd3daa6084328" /><Relationship Type="http://schemas.openxmlformats.org/officeDocument/2006/relationships/notesMaster" Target="/ppt/notesMasters/notesMaster1.xml" Id="R93525d97305a43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工程复盘时间线：报错样例与证据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配套：[可编辑的一页 PPT](工程复盘时间线_含报错示例.pptx)、[图片](工程复盘时间线_含报错示例.png)。本页整理时间为 2026-09-14，展示的工程排障时间范围仍为 2026-08-13 至 09-04。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A. XML 泄漏与冗余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真实来源：[chunks-4-fail.jsonl](../../../tests/fixtures/tool_call/chunks-4-fail.jsonl)，物理第 7～26 行，响应 ID `chatcmpl-ae629356785c8aa0`。将 `delta.content` 按顺序拼接，可以看到：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function=bash&gt;</a:t>
            </a:r>
          </a:p>
          <a:p xmlns:a="http://schemas.openxmlformats.org/drawingml/2006/main">
            <a:r>
              <a:t>&lt;parameter=command&gt;</a:t>
            </a:r>
          </a:p>
          <a:p xmlns:a="http://schemas.openxmlformats.org/drawingml/2006/main">
            <a:r>
              <a:t>git checkout br_MAEV100R026C10_release</a:t>
            </a:r>
          </a:p>
          <a:p xmlns:a="http://schemas.openxmlformats.org/drawingml/2006/main">
            <a:r>
              <a:t>...</a:t>
            </a:r>
          </a:p>
          <a:p xmlns:a="http://schemas.openxmlformats.org/drawingml/2006/main">
            <a:r>
              <a:t>&lt;/function&gt;</a:t>
            </a:r>
          </a:p>
          <a:p xmlns:a="http://schemas.openxmlformats.org/drawingml/2006/main">
            <a:r>
              <a:t>&lt;/tool_call&gt;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user</a:t>
            </a:r>
          </a:p>
          <a:p xmlns:a="http://schemas.openxmlformats.org/drawingml/2006/main">
            <a:r>
              <a:t>&lt;t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`...` 是展示省略，`\nuser\n&lt;t` 在 PPT 中用转义写法显示实际换行。首个工具前缀 `&lt;tool_call&gt;\n&lt;` 没有进入公开文本，工具 XML 进入 `content`；`user` 是正文中的角色尾流，不是新的合法 SSE role 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修复处理了状态机回合边界和 text/token IDs 交接，工具 XML 由原生 parser 转成结构化 `tool_calls`。展示的是这一故障家族修复后的行为，不是声称对该请求执行过同文本生成的前后对照。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tool delta 后继续输出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来源：[工具流排障文档 §2.1](../../debug/tool_call_streaming_debug_plan.md)。`run_after_fix` 的 100 条 DTB 中，50 条出现 tool delta 后继续 content；终止语义修复后的 100 条中该项为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使用如下顺序示意，**不是逐字日志**，`[...]` 与 `"..."` 只是占位符：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delta.tool_calls = [...]</a:t>
            </a:r>
          </a:p>
          <a:p xmlns:a="http://schemas.openxmlformats.org/drawingml/2006/main">
            <a:r>
              <a:t>delta.content = "..."</a:t>
            </a:r>
          </a:p>
          <a:p xmlns:a="http://schemas.openxmlformats.org/drawingml/2006/main">
            <a:r>
              <a:t>finish_reason = "tool_calls"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根因是旧控制器在 thinking 已进入工具阶段后继续 probe / fresh final，把第二段生成拼接进同一外部响应。修复后，模型边界触发同一逻辑 completion 的 continuation，最终源 terminal 保持正文、token IDs 和终止字段的绑定。一个回合仍允许多个合法工具调用。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C. 参数 JSON 未闭合，却报告 tool_calls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真实来源：[run_server_01/summary.jsonl](../../log/perf/agent_tool_call_run04_paired_replay/run_server_01/summary.jsonl)，第 550 行，`client_request_id=dtbtool-l10-a5-dtb-run04-p0`。该响应的第二个工具 `index=1` 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name: "write"</a:t>
            </a:r>
          </a:p>
          <a:p xmlns:a="http://schemas.openxmlformats.org/drawingml/2006/main">
            <a:r>
              <a:t>arguments: "{"</a:t>
            </a:r>
          </a:p>
          <a:p xmlns:a="http://schemas.openxmlformats.org/drawingml/2006/main">
            <a:r>
              <a:t>finish_reason: "tool_calls"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这些值来自归档 summary 对 SSE 的重组，排版省略了 id 等字段，不是完整 wire JSON。`invalid_argument_indexes=[1]`，第一个 `write` 的 arguments 已闭合；PPT 选取真实损坏的第二个工具，不沿用旧报告中“首个 write 缺括号”的描述。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更早的确定性分片证据见[排障文档 §2.1](../../debug/tool_call_streaming_debug_plan.md)：相同 955 字符的 raw text，在不同合法分片下形成 460/461 字符的 arguments，差异仅为末尾 `}`。该历史样本与上面第 550 行不是同一个请求。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工程处理包含两个不同层次：final 不再追加内部思考 stop，防止 XML 根本未生成完；工具 parser 在真实函数闭合后生成完整 canonical JSON，并处理同批连续调用。不能用补造括号修复模型未完成的 XML。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思考结束时吞掉正常尾句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真实来源：[replay2/RESULT.md §3.1](../../log/perf/agent_tool_call_run04_paired_replay/run_server_04_token_stop/replay2/RESULT.md)，`dtbtool-l5-a10-dtb-run04-token-stop-audit-01`。服务器 `server_filtered_part_01:2048`，公开 SSE `chunks.jsonl:373`，汇总 `summary.jsonl:19`。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已有正文尾部   = "Let me try a"</a:t>
            </a:r>
          </a:p>
          <a:p xmlns:a="http://schemas.openxmlformats.org/drawingml/2006/main">
            <a:r>
              <a:t>delta_text    = " different approach.\n"</a:t>
            </a:r>
          </a:p>
          <a:p xmlns:a="http://schemas.openxmlformats.org/drawingml/2006/main">
            <a:r>
              <a:t>delta_token_ids = [2086, 5313, 13, 198, 248069]</a:t>
            </a:r>
          </a:p>
          <a:p xmlns:a="http://schemas.openxmlformats.org/drawingml/2006/main">
            <a:r>
              <a:t>stop_reason   = 248069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 reasoning parser 重放同一份输入，只保留到 `Let me try a`；修复后的服务器公开输出为：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The task call format is problematic. Let me try a different approach.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这是同一输入的离线旧 parser 负对照与修复后实际公共输出的对比。末尾结构 stop token 的文字已剥离，ID 仍保留；修复保留同批正常正文，并维持 include-stop 默认 False。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补充：停止条件碰撞的显式 SSE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来源：[run_server_03/RESULT.md §4](../../log/perf/agent_tool_call_run04_paired_replay/run_server_03/RESULT.md)，请求 `dtbtool-l10-a26-dtb-run04-targeted`。HTTP 200 之后仍可能收到错误事件：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data: {"error":{"message":"DTB orchestration failed; see server logs",</a:t>
            </a:r>
          </a:p>
          <a:p xmlns:a="http://schemas.openxmlformats.org/drawingml/2006/main">
            <a:r>
              <a:t>       "type":"InternalServerError","param":null,"code":500}}</a:t>
            </a:r>
          </a:p>
          <a:p xmlns:a="http://schemas.openxmlformats.org/drawingml/2006/main">
            <a:r>
              <a:t>data: [DONE]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错误发生前，思考正文生成普通 token `&lt;/`=`510`、`think`=`26003`，与独立结构 token `248069` 不同。字符串 stop 与旧对齐假设碰撞，是由源码和 token 轨迹支持的根因解释；缺原始 traceback，不能把具体 RuntimeError 说成日志直接证明。流式 thinking 迁移为结构 token stop 后，定向回放未复现旧编排错误。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时间线和结果口径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- 8/13 的 98/100 是旧检查器检出值，另 2 条也存在跨 child 重复生成，不能当成正确请求。</a:t>
            </a:r>
          </a:p>
          <a:p xmlns:a="http://schemas.openxmlformats.org/drawingml/2006/main">
            <a:r>
              <a:t>- 8/14 role 尾流、tool 后 content 等计数为 0，随后前缀对齐使 XML 泄漏由 13/100 降至 0/100。两个回放阶段分别仍有 22/100、12/100 的其他异常。</a:t>
            </a:r>
          </a:p>
          <a:p xmlns:a="http://schemas.openxmlformats.org/drawingml/2006/main">
            <a:r>
              <a:t>- 8/17～19：180 对回放中，170 条含工具的 DTB 响应共 265 个调用，目标结构异常为 0；其余 10 条无工具响应中，8 条有 raw 支持模型未生成工具，2 条缺证据未分类。至少 49 条命中同批收尾，历史记录为真实 MTP 环境。</a:t>
            </a:r>
          </a:p>
          <a:p xmlns:a="http://schemas.openxmlformats.org/drawingml/2006/main">
            <a:r>
              <a:t>- 9/1：DTB 非法 JSON 由 133/300 降至 0/300，当轮仍有 DTB 1 条缺 terminal、Vanilla 2 条空参数，不能写成全部通过。来源：[run_server_02](../../log/perf/agent_tool_call_run04_paired_replay/run_server_02/RESULT.md)。</a:t>
            </a:r>
          </a:p>
          <a:p xmlns:a="http://schemas.openxmlformats.org/drawingml/2006/main">
            <a:r>
              <a:t>- 9/4：reasoning 丢字旧轮为 47/60，新轮为 0/60，两个 run 重新采样，不是同一批请求逐字恢复。新轮 48 个混合 chunk 的 344 字符全部保留，60/60 条 DTB 公开正文与 pre-parser 一致。两侧各 60 条，共 120 条工具流协议异常为 0。</a:t>
            </a:r>
          </a:p>
          <a:p xmlns:a="http://schemas.openxmlformats.org/drawingml/2006/main">
            <a:r>
              <a:t>- 三份版本化补丁为 `dtb_serving.patch`、`qwen3_coder_parser.patch`、`qwen3_reasoning_parser.patch`，对应固定 vLLM v0.23.0。</a:t>
            </a:r>
          </a:p>
          <a:p xmlns:a="http://schemas.openxmlformats.org/drawingml/2006/main">
            <a:r>
              <a:t>- 支持 MTP 表示兼容方案无需关闭投机解码，历史真实 MTP 回放覆盖了同批参数收尾。9/4 回放没有重新记录完整 MTP 启动身份，不能作为新的 MTP 性能实验。</a:t>
            </a:r>
          </a:p>
          <a:p xmlns:a="http://schemas.openxmlformats.org/drawingml/2006/main">
            <a:r>
              <a:t>- 9/4 结果是两条固定历史上下文的定向回放，DTB 均为短思考，没有覆盖 probe、迭代和强制截断全路径。任务语义和时延另行验收；本页不覆盖 9/4 之后的质量/性能进展。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完整工程材料：[技术博客](../DTB_Agent集成验证_技术博客.md)。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2e97f07d0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a091afd8a4751" /><Relationship Type="http://schemas.openxmlformats.org/officeDocument/2006/relationships/slideLayout" Target="/ppt/slideLayouts/slideLayout1.xml" Id="R0ea3b49e9a6744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3b49e9a6744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df1f36a344e0" /><Relationship Type="http://schemas.openxmlformats.org/officeDocument/2006/relationships/notesSlide" Target="/ppt/notesSlides/notesSlide1.xml" Id="R7358de8c85b2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title">
            <a:extLst xmlns:a="http://schemas.openxmlformats.org/drawingml/2006/main">
              <a:ext uri="{FF2B5EF4-FFF2-40B4-BE49-F238E27FC236}">
                <a16:creationId xmlns:a16="http://schemas.microsoft.com/office/drawing/2014/main" id="{88AC517C-E71A-4CAA-980D-F5D9CD7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162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DTB 接入 Agent：工程攻关复盘</a:t>
            </a:r>
          </a:p>
        </p:txBody>
      </p:sp>
      <p:sp>
        <p:nvSpPr>
          <p:cNvPr id="2" name="period">
            <a:extLst xmlns:a="http://schemas.openxmlformats.org/drawingml/2006/main">
              <a:ext uri="{FF2B5EF4-FFF2-40B4-BE49-F238E27FC236}">
                <a16:creationId xmlns:a16="http://schemas.microsoft.com/office/drawing/2014/main" id="{67390664-BA7C-4130-A393-8B5CA8A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28650"/>
            <a:ext cx="567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8/13 至 9/4  三周分层排障与回放验证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D409ACB-CE9E-4B07-945C-68CB4236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706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D6DB"/>
            </a:solidFill>
          </a:ln>
        </p:spPr>
      </p:sp>
      <p:sp>
        <p:nvSpPr>
          <p:cNvPr id="4" name="contract-background">
            <a:extLst xmlns:a="http://schemas.openxmlformats.org/drawingml/2006/main">
              <a:ext uri="{FF2B5EF4-FFF2-40B4-BE49-F238E27FC236}">
                <a16:creationId xmlns:a16="http://schemas.microsoft.com/office/drawing/2014/main" id="{73C19A4B-5D42-42B7-BAC4-254A8A6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7068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5" name="contract-accent">
            <a:extLst xmlns:a="http://schemas.openxmlformats.org/drawingml/2006/main">
              <a:ext uri="{FF2B5EF4-FFF2-40B4-BE49-F238E27FC236}">
                <a16:creationId xmlns:a16="http://schemas.microsoft.com/office/drawing/2014/main" id="{FE1E8864-7008-441C-A127-E1BAA1C3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18"/>
          </a:solidFill>
          <a:ln xmlns:a="http://schemas.openxmlformats.org/drawingml/2006/main" w="0">
            <a:noFill/>
          </a:ln>
        </p:spPr>
      </p:sp>
      <p:sp>
        <p:nvSpPr>
          <p:cNvPr id="6" name="difficulty">
            <a:extLst xmlns:a="http://schemas.openxmlformats.org/drawingml/2006/main">
              <a:ext uri="{FF2B5EF4-FFF2-40B4-BE49-F238E27FC236}">
                <a16:creationId xmlns:a16="http://schemas.microsoft.com/office/drawing/2014/main" id="{47298989-DCAF-44D8-AE15-85AE91EC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7" name="difficulty-text">
            <a:extLst xmlns:a="http://schemas.openxmlformats.org/drawingml/2006/main">
              <a:ext uri="{FF2B5EF4-FFF2-40B4-BE49-F238E27FC236}">
                <a16:creationId xmlns:a16="http://schemas.microsoft.com/office/drawing/2014/main" id="{CE7CDB51-C4F0-4426-8995-A814097C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71625"/>
            <a:ext cx="1562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多轮工具调用叠加思考与投机解码，边界偏差引发 XML 泄漏、重复生成、JSON 不完整和思考丢字</a:t>
            </a:r>
          </a:p>
        </p:txBody>
      </p:sp>
      <p:sp>
        <p:nvSpPr>
          <p:cNvPr id="8" name="contract">
            <a:extLst xmlns:a="http://schemas.openxmlformats.org/drawingml/2006/main">
              <a:ext uri="{FF2B5EF4-FFF2-40B4-BE49-F238E27FC236}">
                <a16:creationId xmlns:a16="http://schemas.microsoft.com/office/drawing/2014/main" id="{C781005C-A1F1-4205-B101-B66598D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9" name="contract-text">
            <a:extLst xmlns:a="http://schemas.openxmlformats.org/drawingml/2006/main">
              <a:ext uri="{FF2B5EF4-FFF2-40B4-BE49-F238E27FC236}">
                <a16:creationId xmlns:a16="http://schemas.microsoft.com/office/drawing/2014/main" id="{70B00D4C-8FEE-4837-9EE6-FF1FA30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62150"/>
            <a:ext cx="1562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一个外部请求保持一个连续 assistant 回合，工具参数完整、结束唯一，公开思考正文保真</a:t>
            </a:r>
          </a:p>
        </p:txBody>
      </p:sp>
      <p:sp>
        <p:nvSpPr>
          <p:cNvPr id="10" name="timeline">
            <a:extLst xmlns:a="http://schemas.openxmlformats.org/drawingml/2006/main">
              <a:ext uri="{FF2B5EF4-FFF2-40B4-BE49-F238E27FC236}">
                <a16:creationId xmlns:a16="http://schemas.microsoft.com/office/drawing/2014/main" id="{57E8A57C-E2BC-4E55-893D-77BC74B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1550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C2"/>
            </a:solidFill>
          </a:ln>
        </p:spPr>
      </p:sp>
      <p:sp>
        <p:nvSpPr>
          <p:cNvPr id="11" name="node-0">
            <a:extLst xmlns:a="http://schemas.openxmlformats.org/drawingml/2006/main">
              <a:ext uri="{FF2B5EF4-FFF2-40B4-BE49-F238E27FC236}">
                <a16:creationId xmlns:a16="http://schemas.microsoft.com/office/drawing/2014/main" id="{DADE411C-3C50-40D6-B6F3-D7FF709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12" name="date-0">
            <a:extLst xmlns:a="http://schemas.openxmlformats.org/drawingml/2006/main">
              <a:ext uri="{FF2B5EF4-FFF2-40B4-BE49-F238E27FC236}">
                <a16:creationId xmlns:a16="http://schemas.microsoft.com/office/drawing/2014/main" id="{C618D6BC-5A69-4ED6-8E93-661F859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8/13</a:t>
            </a:r>
          </a:p>
        </p:txBody>
      </p:sp>
      <p:sp>
        <p:nvSpPr>
          <p:cNvPr id="13" name="event-0">
            <a:extLst xmlns:a="http://schemas.openxmlformats.org/drawingml/2006/main">
              <a:ext uri="{FF2B5EF4-FFF2-40B4-BE49-F238E27FC236}">
                <a16:creationId xmlns:a16="http://schemas.microsoft.com/office/drawing/2014/main" id="{F172AA28-432B-402C-845B-695CAD50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建立单回合验收</a:t>
            </a:r>
          </a:p>
        </p:txBody>
      </p:sp>
      <p:sp>
        <p:nvSpPr>
          <p:cNvPr id="14" name="result-0">
            <a:extLst xmlns:a="http://schemas.openxmlformats.org/drawingml/2006/main">
              <a:ext uri="{FF2B5EF4-FFF2-40B4-BE49-F238E27FC236}">
                <a16:creationId xmlns:a16="http://schemas.microsoft.com/office/drawing/2014/main" id="{6E6016D5-B1C6-4FA2-9751-AE5546E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194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检出 98/100 协议异常</a:t>
            </a:r>
          </a:p>
        </p:txBody>
      </p:sp>
      <p:sp>
        <p:nvSpPr>
          <p:cNvPr id="15" name="node-1">
            <a:extLst xmlns:a="http://schemas.openxmlformats.org/drawingml/2006/main">
              <a:ext uri="{FF2B5EF4-FFF2-40B4-BE49-F238E27FC236}">
                <a16:creationId xmlns:a16="http://schemas.microsoft.com/office/drawing/2014/main" id="{D193B72C-C74C-4DE0-8E29-394292B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16" name="date-1">
            <a:extLst xmlns:a="http://schemas.openxmlformats.org/drawingml/2006/main">
              <a:ext uri="{FF2B5EF4-FFF2-40B4-BE49-F238E27FC236}">
                <a16:creationId xmlns:a16="http://schemas.microsoft.com/office/drawing/2014/main" id="{B0325F70-C4E0-45FF-9EE2-D1D26B1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8/14</a:t>
            </a:r>
          </a:p>
        </p:txBody>
      </p:sp>
      <p:sp>
        <p:nvSpPr>
          <p:cNvPr id="17" name="event-1">
            <a:extLst xmlns:a="http://schemas.openxmlformats.org/drawingml/2006/main">
              <a:ext uri="{FF2B5EF4-FFF2-40B4-BE49-F238E27FC236}">
                <a16:creationId xmlns:a16="http://schemas.microsoft.com/office/drawing/2014/main" id="{186C3D46-ADD5-4D5E-B48D-19DADEF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0532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统一显式 / 隐式结束边界</a:t>
            </a:r>
          </a:p>
        </p:txBody>
      </p:sp>
      <p:sp>
        <p:nvSpPr>
          <p:cNvPr id="18" name="result-1">
            <a:extLst xmlns:a="http://schemas.openxmlformats.org/drawingml/2006/main">
              <a:ext uri="{FF2B5EF4-FFF2-40B4-BE49-F238E27FC236}">
                <a16:creationId xmlns:a16="http://schemas.microsoft.com/office/drawing/2014/main" id="{F4DB2DB0-6BD1-4D60-90BA-2885E56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role 尾流、tool 后正文均归零</a:t>
            </a:r>
          </a:p>
        </p:txBody>
      </p:sp>
      <p:sp>
        <p:nvSpPr>
          <p:cNvPr id="19" name="node-2">
            <a:extLst xmlns:a="http://schemas.openxmlformats.org/drawingml/2006/main">
              <a:ext uri="{FF2B5EF4-FFF2-40B4-BE49-F238E27FC236}">
                <a16:creationId xmlns:a16="http://schemas.microsoft.com/office/drawing/2014/main" id="{576649F5-9735-4AAE-9039-AC21A2A4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20" name="date-2">
            <a:extLst xmlns:a="http://schemas.openxmlformats.org/drawingml/2006/main">
              <a:ext uri="{FF2B5EF4-FFF2-40B4-BE49-F238E27FC236}">
                <a16:creationId xmlns:a16="http://schemas.microsoft.com/office/drawing/2014/main" id="{7FAA5A06-9E34-411A-BC31-A01822A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8/14</a:t>
            </a:r>
          </a:p>
        </p:txBody>
      </p:sp>
      <p:sp>
        <p:nvSpPr>
          <p:cNvPr id="21" name="event-2">
            <a:extLst xmlns:a="http://schemas.openxmlformats.org/drawingml/2006/main">
              <a:ext uri="{FF2B5EF4-FFF2-40B4-BE49-F238E27FC236}">
                <a16:creationId xmlns:a16="http://schemas.microsoft.com/office/drawing/2014/main" id="{860F2EBE-B3BA-47AE-8CD1-4FF8CF4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7657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对齐 stop 的 text / IDs</a:t>
            </a:r>
          </a:p>
        </p:txBody>
      </p:sp>
      <p:sp>
        <p:nvSpPr>
          <p:cNvPr id="22" name="result-2">
            <a:extLst xmlns:a="http://schemas.openxmlformats.org/drawingml/2006/main">
              <a:ext uri="{FF2B5EF4-FFF2-40B4-BE49-F238E27FC236}">
                <a16:creationId xmlns:a16="http://schemas.microsoft.com/office/drawing/2014/main" id="{3BAACB2B-B348-496D-A6E8-C3F1F527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XML 泄漏 13/100 降至 0/100</a:t>
            </a:r>
          </a:p>
        </p:txBody>
      </p:sp>
      <p:sp>
        <p:nvSpPr>
          <p:cNvPr id="23" name="node-3">
            <a:extLst xmlns:a="http://schemas.openxmlformats.org/drawingml/2006/main">
              <a:ext uri="{FF2B5EF4-FFF2-40B4-BE49-F238E27FC236}">
                <a16:creationId xmlns:a16="http://schemas.microsoft.com/office/drawing/2014/main" id="{28939921-E738-4527-A918-1209901A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24" name="date-3">
            <a:extLst xmlns:a="http://schemas.openxmlformats.org/drawingml/2006/main">
              <a:ext uri="{FF2B5EF4-FFF2-40B4-BE49-F238E27FC236}">
                <a16:creationId xmlns:a16="http://schemas.microsoft.com/office/drawing/2014/main" id="{78DD5F1C-D0F9-468C-BE1A-67669CF1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8/17–19</a:t>
            </a:r>
          </a:p>
        </p:txBody>
      </p:sp>
      <p:sp>
        <p:nvSpPr>
          <p:cNvPr id="25" name="event-3">
            <a:extLst xmlns:a="http://schemas.openxmlformats.org/drawingml/2006/main">
              <a:ext uri="{FF2B5EF4-FFF2-40B4-BE49-F238E27FC236}">
                <a16:creationId xmlns:a16="http://schemas.microsoft.com/office/drawing/2014/main" id="{2203A9F5-9FA1-48AA-A117-FF333B7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0532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透传源终止事件，修复同批收尾</a:t>
            </a:r>
          </a:p>
        </p:txBody>
      </p:sp>
      <p:sp>
        <p:nvSpPr>
          <p:cNvPr id="26" name="result-3">
            <a:extLst xmlns:a="http://schemas.openxmlformats.org/drawingml/2006/main">
              <a:ext uri="{FF2B5EF4-FFF2-40B4-BE49-F238E27FC236}">
                <a16:creationId xmlns:a16="http://schemas.microsoft.com/office/drawing/2014/main" id="{BC637A1B-3021-499E-8B41-92D57CB8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4822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265 个调用无目标结构异常</a:t>
            </a:r>
          </a:p>
        </p:txBody>
      </p:sp>
      <p:sp>
        <p:nvSpPr>
          <p:cNvPr id="27" name="node-4">
            <a:extLst xmlns:a="http://schemas.openxmlformats.org/drawingml/2006/main">
              <a:ext uri="{FF2B5EF4-FFF2-40B4-BE49-F238E27FC236}">
                <a16:creationId xmlns:a16="http://schemas.microsoft.com/office/drawing/2014/main" id="{7A78A60B-1CCA-4926-9402-041F91C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28" name="date-4">
            <a:extLst xmlns:a="http://schemas.openxmlformats.org/drawingml/2006/main">
              <a:ext uri="{FF2B5EF4-FFF2-40B4-BE49-F238E27FC236}">
                <a16:creationId xmlns:a16="http://schemas.microsoft.com/office/drawing/2014/main" id="{1F2B1BAF-D8FA-42C5-AE62-F065691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4795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9" name="event-4">
            <a:extLst xmlns:a="http://schemas.openxmlformats.org/drawingml/2006/main">
              <a:ext uri="{FF2B5EF4-FFF2-40B4-BE49-F238E27FC236}">
                <a16:creationId xmlns:a16="http://schemas.microsoft.com/office/drawing/2014/main" id="{1CF2A8CC-1387-420A-8913-FBF34C6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7657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final 移除内部思考 stop</a:t>
            </a:r>
          </a:p>
        </p:txBody>
      </p:sp>
      <p:sp>
        <p:nvSpPr>
          <p:cNvPr id="30" name="result-4">
            <a:extLst xmlns:a="http://schemas.openxmlformats.org/drawingml/2006/main">
              <a:ext uri="{FF2B5EF4-FFF2-40B4-BE49-F238E27FC236}">
                <a16:creationId xmlns:a16="http://schemas.microsoft.com/office/drawing/2014/main" id="{B35BE733-09BC-442E-B847-08B1E410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41947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非法 JSON 133/300 降至 0/300</a:t>
            </a:r>
          </a:p>
        </p:txBody>
      </p:sp>
      <p:sp>
        <p:nvSpPr>
          <p:cNvPr id="31" name="node-5">
            <a:extLst xmlns:a="http://schemas.openxmlformats.org/drawingml/2006/main">
              <a:ext uri="{FF2B5EF4-FFF2-40B4-BE49-F238E27FC236}">
                <a16:creationId xmlns:a16="http://schemas.microsoft.com/office/drawing/2014/main" id="{D7743EDB-25B5-49E6-ABF0-B37FB14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3676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C81018"/>
            </a:solidFill>
          </a:ln>
        </p:spPr>
      </p:sp>
      <p:sp>
        <p:nvSpPr>
          <p:cNvPr id="32" name="date-5">
            <a:extLst xmlns:a="http://schemas.openxmlformats.org/drawingml/2006/main">
              <a:ext uri="{FF2B5EF4-FFF2-40B4-BE49-F238E27FC236}">
                <a16:creationId xmlns:a16="http://schemas.microsoft.com/office/drawing/2014/main" id="{2CF141E3-F301-4D98-9E08-4E0B51C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076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9/3–4</a:t>
            </a:r>
          </a:p>
        </p:txBody>
      </p:sp>
      <p:sp>
        <p:nvSpPr>
          <p:cNvPr id="33" name="event-5">
            <a:extLst xmlns:a="http://schemas.openxmlformats.org/drawingml/2006/main">
              <a:ext uri="{FF2B5EF4-FFF2-40B4-BE49-F238E27FC236}">
                <a16:creationId xmlns:a16="http://schemas.microsoft.com/office/drawing/2014/main" id="{6156C53C-DFC3-42E0-B17C-50AFBAFF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505325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结构 token 停止与正文保真</a:t>
            </a:r>
          </a:p>
        </p:txBody>
      </p:sp>
      <p:sp>
        <p:nvSpPr>
          <p:cNvPr id="34" name="result-5">
            <a:extLst xmlns:a="http://schemas.openxmlformats.org/drawingml/2006/main">
              <a:ext uri="{FF2B5EF4-FFF2-40B4-BE49-F238E27FC236}">
                <a16:creationId xmlns:a16="http://schemas.microsoft.com/office/drawing/2014/main" id="{100779EC-8A26-4ECD-8279-23DE8B4C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848225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思考丢字 47/60 降至 0/60</a:t>
            </a:r>
          </a:p>
        </p:txBody>
      </p:sp>
      <p:sp>
        <p:nvSpPr>
          <p:cNvPr id="35" name="examples-heading">
            <a:extLst xmlns:a="http://schemas.openxmlformats.org/drawingml/2006/main">
              <a:ext uri="{FF2B5EF4-FFF2-40B4-BE49-F238E27FC236}">
                <a16:creationId xmlns:a16="http://schemas.microsoft.com/office/drawing/2014/main" id="{9C5C6FFB-A6D2-4CAF-904A-76B4F259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具体故障：Agent 实际会收到什么</a:t>
            </a:r>
          </a:p>
        </p:txBody>
      </p:sp>
      <p:sp>
        <p:nvSpPr>
          <p:cNvPr id="36" name="examples-note">
            <a:extLst xmlns:a="http://schemas.openxmlformats.org/drawingml/2006/main">
              <a:ext uri="{FF2B5EF4-FFF2-40B4-BE49-F238E27FC236}">
                <a16:creationId xmlns:a16="http://schemas.microsoft.com/office/drawing/2014/main" id="{16802D1F-61BD-45ED-A1DE-C8789F1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6102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真实片段与简化示意分别标注</a:t>
            </a:r>
          </a:p>
        </p:txBody>
      </p:sp>
      <p:sp>
        <p:nvSpPr>
          <p:cNvPr id="37" name="example-bg-0">
            <a:extLst xmlns:a="http://schemas.openxmlformats.org/drawingml/2006/main">
              <a:ext uri="{FF2B5EF4-FFF2-40B4-BE49-F238E27FC236}">
                <a16:creationId xmlns:a16="http://schemas.microsoft.com/office/drawing/2014/main" id="{ACF0CABB-C450-4DEE-96DF-C32CF84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8" name="example-bg-1">
            <a:extLst xmlns:a="http://schemas.openxmlformats.org/drawingml/2006/main">
              <a:ext uri="{FF2B5EF4-FFF2-40B4-BE49-F238E27FC236}">
                <a16:creationId xmlns:a16="http://schemas.microsoft.com/office/drawing/2014/main" id="{56CA7021-7F4F-4079-9348-F945CC2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150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39" name="example-bg-2">
            <a:extLst xmlns:a="http://schemas.openxmlformats.org/drawingml/2006/main">
              <a:ext uri="{FF2B5EF4-FFF2-40B4-BE49-F238E27FC236}">
                <a16:creationId xmlns:a16="http://schemas.microsoft.com/office/drawing/2014/main" id="{D14736B7-A873-4963-9060-A587046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150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40" name="example-bg-3">
            <a:extLst xmlns:a="http://schemas.openxmlformats.org/drawingml/2006/main">
              <a:ext uri="{FF2B5EF4-FFF2-40B4-BE49-F238E27FC236}">
                <a16:creationId xmlns:a16="http://schemas.microsoft.com/office/drawing/2014/main" id="{516FA11D-F3BB-4A0F-8E58-D2FB024C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1150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</a:ln>
        </p:spPr>
      </p:sp>
      <p:sp>
        <p:nvSpPr>
          <p:cNvPr id="41" name="example-title-0">
            <a:extLst xmlns:a="http://schemas.openxmlformats.org/drawingml/2006/main">
              <a:ext uri="{FF2B5EF4-FFF2-40B4-BE49-F238E27FC236}">
                <a16:creationId xmlns:a16="http://schemas.microsoft.com/office/drawing/2014/main" id="{CBF56EEC-2288-4CCD-AEF7-AD23346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769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① XML 泄漏与冗余 role</a:t>
            </a:r>
          </a:p>
        </p:txBody>
      </p:sp>
      <p:sp>
        <p:nvSpPr>
          <p:cNvPr id="42" name="example-source-0">
            <a:extLst xmlns:a="http://schemas.openxmlformats.org/drawingml/2006/main">
              <a:ext uri="{FF2B5EF4-FFF2-40B4-BE49-F238E27FC236}">
                <a16:creationId xmlns:a16="http://schemas.microsoft.com/office/drawing/2014/main" id="{488E9A96-5458-44AC-90C5-19CF0C97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真实 SSE 拼接节选 [A]</a:t>
            </a:r>
          </a:p>
        </p:txBody>
      </p:sp>
      <p:sp>
        <p:nvSpPr>
          <p:cNvPr id="43" name="xml-channel">
            <a:extLst xmlns:a="http://schemas.openxmlformats.org/drawingml/2006/main">
              <a:ext uri="{FF2B5EF4-FFF2-40B4-BE49-F238E27FC236}">
                <a16:creationId xmlns:a16="http://schemas.microsoft.com/office/drawing/2014/main" id="{29DBDF9B-81A4-4E2B-B628-1DFB6D5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29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262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3262B"/>
                </a:solidFill>
                <a:latin typeface="Consolas"/>
                <a:ea typeface="Consolas"/>
                <a:cs typeface="Consolas"/>
              </a:rPr>
              <a:t>delta.content：</a:t>
            </a:r>
          </a:p>
        </p:txBody>
      </p:sp>
      <p:sp>
        <p:nvSpPr>
          <p:cNvPr id="44" name="xml-leak">
            <a:extLst xmlns:a="http://schemas.openxmlformats.org/drawingml/2006/main">
              <a:ext uri="{FF2B5EF4-FFF2-40B4-BE49-F238E27FC236}">
                <a16:creationId xmlns:a16="http://schemas.microsoft.com/office/drawing/2014/main" id="{D8CF04BE-5A68-4A50-960A-2CB32587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05675"/>
            <a:ext cx="3638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function=bash&gt; ...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&lt;/tool_call&gt;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\nuser\n&lt;t</a:t>
            </a:r>
          </a:p>
        </p:txBody>
      </p:sp>
      <p:sp>
        <p:nvSpPr>
          <p:cNvPr id="45" name="xml-fix">
            <a:extLst xmlns:a="http://schemas.openxmlformats.org/drawingml/2006/main">
              <a:ext uri="{FF2B5EF4-FFF2-40B4-BE49-F238E27FC236}">
                <a16:creationId xmlns:a16="http://schemas.microsoft.com/office/drawing/2014/main" id="{124D0081-0BAA-4B41-BF78-06BE0FD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438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rPr>
              <a:t>修复后：工具结构化，无 role 尾流</a:t>
            </a:r>
          </a:p>
        </p:txBody>
      </p:sp>
      <p:sp>
        <p:nvSpPr>
          <p:cNvPr id="46" name="example-title-1">
            <a:extLst xmlns:a="http://schemas.openxmlformats.org/drawingml/2006/main">
              <a:ext uri="{FF2B5EF4-FFF2-40B4-BE49-F238E27FC236}">
                <a16:creationId xmlns:a16="http://schemas.microsoft.com/office/drawing/2014/main" id="{592BF80D-7FB1-4DC6-BF8B-C63F705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769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② tool delta 后继续正文</a:t>
            </a:r>
          </a:p>
        </p:txBody>
      </p:sp>
      <p:sp>
        <p:nvSpPr>
          <p:cNvPr id="47" name="example-source-1">
            <a:extLst xmlns:a="http://schemas.openxmlformats.org/drawingml/2006/main">
              <a:ext uri="{FF2B5EF4-FFF2-40B4-BE49-F238E27FC236}">
                <a16:creationId xmlns:a16="http://schemas.microsoft.com/office/drawing/2014/main" id="{9C8262C7-C304-4B59-90CC-A38C2377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675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按实测顺序简化，不是逐字日志 [B]</a:t>
            </a:r>
          </a:p>
        </p:txBody>
      </p:sp>
      <p:sp>
        <p:nvSpPr>
          <p:cNvPr id="48" name="tool-then-content">
            <a:extLst xmlns:a="http://schemas.openxmlformats.org/drawingml/2006/main">
              <a:ext uri="{FF2B5EF4-FFF2-40B4-BE49-F238E27FC236}">
                <a16:creationId xmlns:a16="http://schemas.microsoft.com/office/drawing/2014/main" id="{9285204F-A932-44F3-B3F0-D4C8D0F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067550"/>
            <a:ext cx="3676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delta.tool_calls = [...]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delta.content = "..."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finish_reason = "tool_calls"</a:t>
            </a:r>
          </a:p>
        </p:txBody>
      </p:sp>
      <p:sp>
        <p:nvSpPr>
          <p:cNvPr id="49" name="tool-content-impact">
            <a:extLst xmlns:a="http://schemas.openxmlformats.org/drawingml/2006/main">
              <a:ext uri="{FF2B5EF4-FFF2-40B4-BE49-F238E27FC236}">
                <a16:creationId xmlns:a16="http://schemas.microsoft.com/office/drawing/2014/main" id="{B2867687-78D5-427F-929B-DD083930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9629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工具已开始，状态机却又生成正文</a:t>
            </a:r>
          </a:p>
        </p:txBody>
      </p:sp>
      <p:sp>
        <p:nvSpPr>
          <p:cNvPr id="50" name="tool-content-fix">
            <a:extLst xmlns:a="http://schemas.openxmlformats.org/drawingml/2006/main">
              <a:ext uri="{FF2B5EF4-FFF2-40B4-BE49-F238E27FC236}">
                <a16:creationId xmlns:a16="http://schemas.microsoft.com/office/drawing/2014/main" id="{E1CB20C5-F12C-42F8-8336-1EAD0E2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248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rPr>
              <a:t>修复后：沿同一回合续写，只终止一次</a:t>
            </a:r>
          </a:p>
        </p:txBody>
      </p:sp>
      <p:sp>
        <p:nvSpPr>
          <p:cNvPr id="51" name="example-title-2">
            <a:extLst xmlns:a="http://schemas.openxmlformats.org/drawingml/2006/main">
              <a:ext uri="{FF2B5EF4-FFF2-40B4-BE49-F238E27FC236}">
                <a16:creationId xmlns:a16="http://schemas.microsoft.com/office/drawing/2014/main" id="{BC8C26A9-2313-41D7-AE38-AA156B6D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769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③ 参数 JSON 未闭合</a:t>
            </a:r>
          </a:p>
        </p:txBody>
      </p:sp>
      <p:sp>
        <p:nvSpPr>
          <p:cNvPr id="52" name="example-source-2">
            <a:extLst xmlns:a="http://schemas.openxmlformats.org/drawingml/2006/main">
              <a:ext uri="{FF2B5EF4-FFF2-40B4-BE49-F238E27FC236}">
                <a16:creationId xmlns:a16="http://schemas.microsoft.com/office/drawing/2014/main" id="{73F8E93B-DDBD-42F6-AEF7-8B1BF66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675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真实响应字段节选 [C]</a:t>
            </a:r>
          </a:p>
        </p:txBody>
      </p:sp>
      <p:sp>
        <p:nvSpPr>
          <p:cNvPr id="53" name="json-example">
            <a:extLst xmlns:a="http://schemas.openxmlformats.org/drawingml/2006/main">
              <a:ext uri="{FF2B5EF4-FFF2-40B4-BE49-F238E27FC236}">
                <a16:creationId xmlns:a16="http://schemas.microsoft.com/office/drawing/2014/main" id="{12949661-933B-4B3F-B9B1-346F2DE7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67550"/>
            <a:ext cx="3676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name: "write"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arguments: "{"</a:t>
            </a:r>
          </a:p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finish_reason: "tool_calls"</a:t>
            </a:r>
          </a:p>
        </p:txBody>
      </p:sp>
      <p:sp>
        <p:nvSpPr>
          <p:cNvPr id="54" name="json-impact">
            <a:extLst xmlns:a="http://schemas.openxmlformats.org/drawingml/2006/main">
              <a:ext uri="{FF2B5EF4-FFF2-40B4-BE49-F238E27FC236}">
                <a16:creationId xmlns:a16="http://schemas.microsoft.com/office/drawing/2014/main" id="{12C45EBA-FD5B-43AC-B6EF-03FB996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9629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只有左括号，却已经报告工具完成</a:t>
            </a:r>
          </a:p>
        </p:txBody>
      </p:sp>
      <p:sp>
        <p:nvSpPr>
          <p:cNvPr id="55" name="json-fix">
            <a:extLst xmlns:a="http://schemas.openxmlformats.org/drawingml/2006/main">
              <a:ext uri="{FF2B5EF4-FFF2-40B4-BE49-F238E27FC236}">
                <a16:creationId xmlns:a16="http://schemas.microsoft.com/office/drawing/2014/main" id="{AE5FC41A-8084-4B18-A8AE-8ECC93FD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2486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rPr>
              <a:t>修复后：真实函数闭合才发送完整参数</a:t>
            </a:r>
          </a:p>
        </p:txBody>
      </p:sp>
      <p:sp>
        <p:nvSpPr>
          <p:cNvPr id="56" name="example-title-3">
            <a:extLst xmlns:a="http://schemas.openxmlformats.org/drawingml/2006/main">
              <a:ext uri="{FF2B5EF4-FFF2-40B4-BE49-F238E27FC236}">
                <a16:creationId xmlns:a16="http://schemas.microsoft.com/office/drawing/2014/main" id="{8C2AC880-422E-4B85-B912-977A5752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7697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④ 思考结束时吞掉正常尾句</a:t>
            </a:r>
          </a:p>
        </p:txBody>
      </p:sp>
      <p:sp>
        <p:nvSpPr>
          <p:cNvPr id="57" name="example-source-3">
            <a:extLst xmlns:a="http://schemas.openxmlformats.org/drawingml/2006/main">
              <a:ext uri="{FF2B5EF4-FFF2-40B4-BE49-F238E27FC236}">
                <a16:creationId xmlns:a16="http://schemas.microsoft.com/office/drawing/2014/main" id="{7DA57E1A-9FF6-4321-8F23-C33999F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6675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真实 mixed-terminal chunk [D]</a:t>
            </a:r>
          </a:p>
        </p:txBody>
      </p:sp>
      <p:sp>
        <p:nvSpPr>
          <p:cNvPr id="58" name="reason-prefix">
            <a:extLst xmlns:a="http://schemas.openxmlformats.org/drawingml/2006/main">
              <a:ext uri="{FF2B5EF4-FFF2-40B4-BE49-F238E27FC236}">
                <a16:creationId xmlns:a16="http://schemas.microsoft.com/office/drawing/2014/main" id="{A8B04D26-8E53-4A33-8E93-FCF9A29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0294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已有正文：Let me try a</a:t>
            </a:r>
          </a:p>
        </p:txBody>
      </p:sp>
      <p:sp>
        <p:nvSpPr>
          <p:cNvPr id="59" name="reason-tail">
            <a:extLst xmlns:a="http://schemas.openxmlformats.org/drawingml/2006/main">
              <a:ext uri="{FF2B5EF4-FFF2-40B4-BE49-F238E27FC236}">
                <a16:creationId xmlns:a16="http://schemas.microsoft.com/office/drawing/2014/main" id="{BB2953C2-F2A6-4CF5-AFAC-2DFB84EA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3533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101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C81018"/>
                </a:solidFill>
                <a:latin typeface="Consolas"/>
                <a:ea typeface="Consolas"/>
                <a:cs typeface="Consolas"/>
              </a:rPr>
              <a:t>" different approach.\n"</a:t>
            </a:r>
          </a:p>
        </p:txBody>
      </p:sp>
      <p:sp>
        <p:nvSpPr>
          <p:cNvPr id="60" name="reason-id">
            <a:extLst xmlns:a="http://schemas.openxmlformats.org/drawingml/2006/main">
              <a:ext uri="{FF2B5EF4-FFF2-40B4-BE49-F238E27FC236}">
                <a16:creationId xmlns:a16="http://schemas.microsoft.com/office/drawing/2014/main" id="{4F11836B-0A68-466F-A810-16960FA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6866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同批末尾 ID = 248069</a:t>
            </a:r>
          </a:p>
        </p:txBody>
      </p:sp>
      <p:sp>
        <p:nvSpPr>
          <p:cNvPr id="61" name="reason-fix">
            <a:extLst xmlns:a="http://schemas.openxmlformats.org/drawingml/2006/main">
              <a:ext uri="{FF2B5EF4-FFF2-40B4-BE49-F238E27FC236}">
                <a16:creationId xmlns:a16="http://schemas.microsoft.com/office/drawing/2014/main" id="{73F53655-4FD8-4AA5-A727-9A081BE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1438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765B"/>
                </a:solidFill>
                <a:latin typeface="Microsoft YaHei"/>
                <a:ea typeface="Microsoft YaHei"/>
                <a:cs typeface="Microsoft YaHei"/>
              </a:rPr>
              <a:t>修复前丢弃尾句，修复后完整保留</a:t>
            </a:r>
          </a:p>
        </p:txBody>
      </p:sp>
      <p:sp>
        <p:nvSpPr>
          <p:cNvPr id="62" name="metrics-rule">
            <a:extLst xmlns:a="http://schemas.openxmlformats.org/drawingml/2006/main">
              <a:ext uri="{FF2B5EF4-FFF2-40B4-BE49-F238E27FC236}">
                <a16:creationId xmlns:a16="http://schemas.microsoft.com/office/drawing/2014/main" id="{820B3360-E964-41CD-879F-4BBD7C59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0"/>
            <a:ext cx="1706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D6DB"/>
            </a:solidFill>
          </a:ln>
        </p:spPr>
      </p:sp>
      <p:sp>
        <p:nvSpPr>
          <p:cNvPr id="63" name="metric-0">
            <a:extLst xmlns:a="http://schemas.openxmlformats.org/drawingml/2006/main">
              <a:ext uri="{FF2B5EF4-FFF2-40B4-BE49-F238E27FC236}">
                <a16:creationId xmlns:a16="http://schemas.microsoft.com/office/drawing/2014/main" id="{B93D5C51-95A0-4C03-9B23-79820AE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963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0 / 120</a:t>
            </a:r>
          </a:p>
        </p:txBody>
      </p:sp>
      <p:sp>
        <p:nvSpPr>
          <p:cNvPr id="6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FE193706-31B8-4F93-9CCD-CAD9EC1F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工具流协议异常</a:t>
            </a:r>
          </a:p>
        </p:txBody>
      </p:sp>
      <p:sp>
        <p:nvSpPr>
          <p:cNvPr id="65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905C3C74-9ED2-4275-819F-F36CBCE6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059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Vanilla / DTB 各 60 条</a:t>
            </a:r>
          </a:p>
        </p:txBody>
      </p:sp>
      <p:sp>
        <p:nvSpPr>
          <p:cNvPr id="66" name="metric-1">
            <a:extLst xmlns:a="http://schemas.openxmlformats.org/drawingml/2006/main">
              <a:ext uri="{FF2B5EF4-FFF2-40B4-BE49-F238E27FC236}">
                <a16:creationId xmlns:a16="http://schemas.microsoft.com/office/drawing/2014/main" id="{07FF5FC3-B8EC-49BB-9B0C-5009F1E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88963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60 / 60</a:t>
            </a:r>
          </a:p>
        </p:txBody>
      </p:sp>
      <p:sp>
        <p:nvSpPr>
          <p:cNvPr id="6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A790F2E-1DAC-4689-A05B-8DF0832A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38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DTB 思考正文保真</a:t>
            </a:r>
          </a:p>
        </p:txBody>
      </p:sp>
      <p:sp>
        <p:nvSpPr>
          <p:cNvPr id="68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43BB1E64-6002-495A-8FEA-29A1B0D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97059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48 个混合 chunk，344 字符保留</a:t>
            </a:r>
          </a:p>
        </p:txBody>
      </p:sp>
      <p:sp>
        <p:nvSpPr>
          <p:cNvPr id="69" name="metric-2">
            <a:extLst xmlns:a="http://schemas.openxmlformats.org/drawingml/2006/main">
              <a:ext uri="{FF2B5EF4-FFF2-40B4-BE49-F238E27FC236}">
                <a16:creationId xmlns:a16="http://schemas.microsoft.com/office/drawing/2014/main" id="{2A2FC553-3730-4816-B968-BE75B37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88963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3 份补丁</a:t>
            </a:r>
          </a:p>
        </p:txBody>
      </p:sp>
      <p:sp>
        <p:nvSpPr>
          <p:cNvPr id="7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B2BD2D6-9D93-4CD1-96EA-CAA6C25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38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固定 vLLM 版本交付</a:t>
            </a:r>
          </a:p>
        </p:txBody>
      </p:sp>
      <p:sp>
        <p:nvSpPr>
          <p:cNvPr id="71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DC52F7B6-8A95-4C34-B3E1-09712E2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7059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serving / tool / reasoning</a:t>
            </a:r>
          </a:p>
        </p:txBody>
      </p:sp>
      <p:sp>
        <p:nvSpPr>
          <p:cNvPr id="72" name="metric-3">
            <a:extLst xmlns:a="http://schemas.openxmlformats.org/drawingml/2006/main">
              <a:ext uri="{FF2B5EF4-FFF2-40B4-BE49-F238E27FC236}">
                <a16:creationId xmlns:a16="http://schemas.microsoft.com/office/drawing/2014/main" id="{4F2C4CDA-B691-46A4-995E-E471243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8963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1018"/>
                </a:solidFill>
                <a:latin typeface="Microsoft YaHei"/>
                <a:ea typeface="Microsoft YaHei"/>
                <a:cs typeface="Microsoft YaHei"/>
              </a:rPr>
              <a:t>兼容 MTP</a:t>
            </a:r>
          </a:p>
        </p:txBody>
      </p:sp>
      <p:sp>
        <p:nvSpPr>
          <p:cNvPr id="7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857C51F1-3533-49D3-931B-E80D829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938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262B"/>
                </a:solidFill>
                <a:latin typeface="Microsoft YaHei"/>
                <a:ea typeface="Microsoft YaHei"/>
                <a:cs typeface="Microsoft YaHei"/>
              </a:rPr>
              <a:t>无需关闭投机解码</a:t>
            </a:r>
          </a:p>
        </p:txBody>
      </p:sp>
      <p:sp>
        <p:nvSpPr>
          <p:cNvPr id="74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FD0C3B7F-78AF-49C9-963D-21EC757D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970597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历史真实 MTP 回放覆盖同批收尾</a:t>
            </a:r>
          </a:p>
        </p:txBody>
      </p:sp>
      <p:sp>
        <p:nvSpPr>
          <p:cNvPr id="75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2CA77093-71C3-48FF-A7C4-AAF2F0AC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20300"/>
            <a:ext cx="1706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870"/>
                </a:solidFill>
                <a:latin typeface="Microsoft YaHei"/>
                <a:ea typeface="Microsoft YaHei"/>
                <a:cs typeface="Microsoft YaHei"/>
              </a:rPr>
              <a:t>数据范围截至 9/4。不同轮次、分母与故障类型分别统计，不构成统一失败率曲线。协议通过与任务质量、时延收益分别验收。</a:t>
            </a:r>
          </a:p>
        </p:txBody>
      </p:sp>
    </p:spTree>
    <p:extLst>
      <p:ext uri="{BB962C8B-B14F-4D97-AF65-F5344CB8AC3E}">
        <p14:creationId xmlns:p14="http://schemas.microsoft.com/office/powerpoint/2010/main" val="60842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2026-09-14T09:15:49.1880000Z</dcterms:created>
  <dcterms:modified xsi:type="dcterms:W3CDTF">2026-09-14T09:15:49.1880000Z</dcterms:modified>
</coreProperties>
</file>