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803244492e43a6" /><Relationship Type="http://schemas.openxmlformats.org/officeDocument/2006/relationships/extended-properties" Target="/docProps/app.xml" Id="Rc4278d0d99cb4e00" /><Relationship Type="http://schemas.openxmlformats.org/officeDocument/2006/relationships/officeDocument" Target="/ppt/presentation.xml" Id="Re21bc133adaf47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10942cc16f471f"/>
  </p:sldMasterIdLst>
  <p:notesMasterIdLst>
    <p:notesMasterId xmlns:r="http://schemas.openxmlformats.org/officeDocument/2006/relationships" r:id="R5efdc93c0909423b"/>
  </p:notesMasterIdLst>
  <p:sldIdLst>
    <p:sldId xmlns:r="http://schemas.openxmlformats.org/officeDocument/2006/relationships" id="256" r:id="R4fffe5213a544ecd"/>
    <p:sldId xmlns:r="http://schemas.openxmlformats.org/officeDocument/2006/relationships" id="257" r:id="R87fbca318b834437"/>
    <p:sldId xmlns:r="http://schemas.openxmlformats.org/officeDocument/2006/relationships" id="258" r:id="R125fcc7036db4e60"/>
    <p:sldId xmlns:r="http://schemas.openxmlformats.org/officeDocument/2006/relationships" id="259" r:id="R4a6e1c2bda1f4836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e8c4aaf540444b" /><Relationship Type="http://schemas.openxmlformats.org/officeDocument/2006/relationships/slideMaster" Target="/ppt/slideMasters/slideMaster1.xml" Id="R9110942cc16f471f" /><Relationship Type="http://schemas.openxmlformats.org/officeDocument/2006/relationships/notesMaster" Target="/ppt/notesMasters/notesMaster1.xml" Id="R5efdc93c0909423b" /><Relationship Type="http://schemas.openxmlformats.org/officeDocument/2006/relationships/presProps" Target="/ppt/presProps.xml" Id="R2bcfbf47b245426e" /><Relationship Type="http://schemas.openxmlformats.org/officeDocument/2006/relationships/tableStyles" Target="/ppt/tableStyles.xml" Id="Rb93cca703d204935" /><Relationship Type="http://schemas.openxmlformats.org/officeDocument/2006/relationships/slide" Target="/ppt/slides/slide1.xml" Id="R4fffe5213a544ecd" /><Relationship Type="http://schemas.openxmlformats.org/officeDocument/2006/relationships/slide" Target="/ppt/slides/slide2.xml" Id="R87fbca318b834437" /><Relationship Type="http://schemas.openxmlformats.org/officeDocument/2006/relationships/slide" Target="/ppt/slides/slide3.xml" Id="R125fcc7036db4e60" /><Relationship Type="http://schemas.openxmlformats.org/officeDocument/2006/relationships/slide" Target="/ppt/slides/slide4.xml" Id="R4a6e1c2bda1f48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6b7447d1c74a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5a01b9735a4aa4" /><Relationship Type="http://schemas.openxmlformats.org/officeDocument/2006/relationships/notesMaster" Target="/ppt/notesMasters/notesMaster1.xml" Id="Ra309b406814342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87e8518d734b44" /><Relationship Type="http://schemas.openxmlformats.org/officeDocument/2006/relationships/notesMaster" Target="/ppt/notesMasters/notesMaster1.xml" Id="R3aabc3733e644a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2b838b2a5141f9" /><Relationship Type="http://schemas.openxmlformats.org/officeDocument/2006/relationships/notesMaster" Target="/ppt/notesMasters/notesMaster1.xml" Id="R7a006a199aae4a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5dbb590cb94d90" /><Relationship Type="http://schemas.openxmlformats.org/officeDocument/2006/relationships/notesMaster" Target="/ppt/notesMasters/notesMaster1.xml" Id="R1c5005a7d08242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博客 §1、§3、§6。工程定向验证为 120 条响应工具协议零已检异常、60 条 DTB reasoning 保真。全任务 4/9 是显式原始测试口径：Vanilla case35 缺报告但 raw 36/36；case36 由4/4退3/4，case2新增6/6。尚无其他模型净收益证据。</a:t>
            </a:r>
          </a:p>
          <a:p xmlns:a="http://schemas.openxmlformats.org/drawingml/2006/main">
            <a:r>
              <a:t>直接信息来源：docs/report/sum0911/技术博客.md。更新日期 2026-09-14。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博客 §2。源为原工程博客、replay2 RESULT。replay2 Vanilla/DTB 各60条，DTB均短思考未触发probe；48个混合terminal chunk的344字符保留。历史真实MTP回放验证同批参数收尾，最新回放未重录完整MTP启动身份，不作新的MTP性能结论。三补丁固定 vLLM v0.23.0。</a:t>
            </a:r>
          </a:p>
          <a:p xmlns:a="http://schemas.openxmlformats.org/drawingml/2006/main">
            <a:r>
              <a:t>直接信息来源：docs/report/sum0911/技术博客.md。更新日期 2026-09-14。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博客 §3。Vanilla 2902.454646秒，run08 2566.696963秒；差335.757683秒。任务初始输入hash相同，后续Agent轨迹不同，不按第N轮配对。各请求E2E之和不是任务wall time。平台start-end 4299.173→4129.363秒，create-end 5201.631→5088.942秒。请求392→350，response completion263947→237105。run08 350请求474工具调用未检出已知协议错误，有一次合法JSON但task_id运行时拒绝后恢复。</a:t>
            </a:r>
          </a:p>
          <a:p xmlns:a="http://schemas.openxmlformats.org/drawingml/2006/main">
            <a:r>
              <a:t>直接信息来源：docs/report/sum0911/技术博客.md。更新日期 2026-09-14。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博客 §4.2、§5.1。原始reasoning片段由full-log第20行逐字核验，仅通过[…]省略与换行排版，不展示未保存的hidden trial全文。片段1在开头提取3 tests、1 failure、2 passed，标注只表示汇报事实充分；片段2在完整重列31项索引后再计数；片段3在34/32/31间反复推敲，根因未证实。案例request0480aca87728475f，parent chatcmpl-a385fe220c683c95。850-token native后50-token probe以.904024首次接受，再fresh-final174token并创建报告目录。分档互斥：0–20/21–300/301–850/&gt;850，包含0-token请求。请求数128/224/28/11，reasoning token1976/16210/13663/20263，总数391与52112。分档不是累计阈值；长尾20,263是完整reasoning，不全为可删除冗余。阈值后10913仍须扣除必要推理与控制成本。closed354/364同child，仅10请求介入；该phase run全量慢4.26%，不冒充主性能组。原始来源和字符位置见sources/evidence.json。</a:t>
            </a:r>
          </a:p>
          <a:p xmlns:a="http://schemas.openxmlformats.org/drawingml/2006/main">
            <a:r>
              <a:t>直接信息来源：docs/report/sum0911/技术博客.md。更新日期 2026-09-14。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00f8cb47e47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5bb8200d2248ee" /><Relationship Type="http://schemas.openxmlformats.org/officeDocument/2006/relationships/slideLayout" Target="/ppt/slideLayouts/slideLayout1.xml" Id="R2e6e6b34e02842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6e6b34e02842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f765bdce74751" /><Relationship Type="http://schemas.openxmlformats.org/officeDocument/2006/relationships/notesSlide" Target="/ppt/notesSlides/notesSlide1.xml" Id="R28d4ba3b9ddd4c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8021a62b0d4756" /><Relationship Type="http://schemas.openxmlformats.org/officeDocument/2006/relationships/notesSlide" Target="/ppt/notesSlides/notesSlide2.xml" Id="Rbf03dff0f11546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0823f1092b4623" /><Relationship Type="http://schemas.openxmlformats.org/officeDocument/2006/relationships/chart" Target="/ppt/slides/charts/chart1.xml" Id="R7c137be5cbd84e77" /><Relationship Type="http://schemas.openxmlformats.org/officeDocument/2006/relationships/notesSlide" Target="/ppt/notesSlides/notesSlide3.xml" Id="R06f1dc66306046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2512689c3e4bb9" /><Relationship Type="http://schemas.openxmlformats.org/officeDocument/2006/relationships/chart" Target="/ppt/slides/charts/chart2.xml" Id="R07fa6af39a50481d" /><Relationship Type="http://schemas.openxmlformats.org/officeDocument/2006/relationships/notesSlide" Target="/ppt/notesSlides/notesSlide4.xml" Id="R0de627c9bc56484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累计 LLM E2E / 秒</c:v>
          </c:tx>
          <c:spPr>
            <a:solidFill xmlns:a="http://schemas.openxmlformats.org/drawingml/2006/main">
              <a:srgbClr val="CDD8DE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087F7C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Vanilla-06</c:v>
                </c:pt>
                <c:pt idx="1">
                  <c:v>DTB run-08</c:v>
                </c:pt>
              </c:strCache>
            </c:strRef>
          </c:cat>
          <c:val>
            <c:numRef>
              <c:f>'Chart Data'!$B$2:$B$3</c:f>
              <c:numCache>
                <c:formatCode>#,##0.000</c:formatCode>
                <c:ptCount val="2"/>
                <c:pt idx="0">
                  <c:v>2902.455</c:v>
                </c:pt>
                <c:pt idx="1">
                  <c:v>2566.697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42C3D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DD8DE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3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CEF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100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请求占比</c:v>
          </c:tx>
          <c:spPr>
            <a:solidFill xmlns:a="http://schemas.openxmlformats.org/drawingml/2006/main">
              <a:srgbClr val="CDD8DE"/>
            </a:solidFill>
          </c:spPr>
          <c:cat>
            <c:strRef>
              <c:f>'Chart Data'!$A$2:$A$5</c:f>
              <c:strCache>
                <c:ptCount val="4"/>
                <c:pt idx="0">
                  <c:v>≤20</c:v>
                </c:pt>
                <c:pt idx="1">
                  <c:v>21–300</c:v>
                </c:pt>
                <c:pt idx="2">
                  <c:v>301–850</c:v>
                </c:pt>
                <c:pt idx="3">
                  <c:v>&gt;850</c:v>
                </c:pt>
              </c:strCache>
            </c:strRef>
          </c:cat>
          <c:val>
            <c:numRef>
              <c:f>'Chart Data'!$B$2:$B$5</c:f>
              <c:numCache>
                <c:formatCode>0.00%</c:formatCode>
                <c:ptCount val="4"/>
                <c:pt idx="0">
                  <c:v>0.32736573</c:v>
                </c:pt>
                <c:pt idx="1">
                  <c:v>0.57289003</c:v>
                </c:pt>
                <c:pt idx="2">
                  <c:v>0.07161125</c:v>
                </c:pt>
                <c:pt idx="3">
                  <c:v>0.02813299</c:v>
                </c:pt>
              </c:numCache>
            </c:numRef>
          </c:val>
        </c:ser>
        <c:ser>
          <c:idx val="1"/>
          <c:order val="1"/>
          <c:tx>
            <c:v>reasoning token 占比</c:v>
          </c:tx>
          <c:spPr>
            <a:solidFill xmlns:a="http://schemas.openxmlformats.org/drawingml/2006/main">
              <a:srgbClr val="087F7C"/>
            </a:solidFill>
          </c:spPr>
          <c:cat>
            <c:strRef>
              <c:f>'Chart Data'!$C$2:$C$5</c:f>
              <c:strCache>
                <c:ptCount val="4"/>
                <c:pt idx="0">
                  <c:v>≤20</c:v>
                </c:pt>
                <c:pt idx="1">
                  <c:v>21–300</c:v>
                </c:pt>
                <c:pt idx="2">
                  <c:v>301–850</c:v>
                </c:pt>
                <c:pt idx="3">
                  <c:v>&gt;850</c:v>
                </c:pt>
              </c:strCache>
            </c:strRef>
          </c:cat>
          <c:val>
            <c:numRef>
              <c:f>'Chart Data'!$D$2:$D$5</c:f>
              <c:numCache>
                <c:formatCode>0.00%</c:formatCode>
                <c:ptCount val="4"/>
                <c:pt idx="0">
                  <c:v>0.03791833</c:v>
                </c:pt>
                <c:pt idx="1">
                  <c:v>0.31106079</c:v>
                </c:pt>
                <c:pt idx="2">
                  <c:v>0.26218529</c:v>
                </c:pt>
                <c:pt idx="3">
                  <c:v>0.38883558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142C3D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DD8DE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0.6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CEF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>
              <a:solidFill>
                <a:srgbClr val="536B7C"/>
              </a:solidFill>
              <a:latin typeface="Microsoft YaHei"/>
              <a:ea typeface="Microsoft YaHei"/>
              <a:cs typeface="Microsoft YaHe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DTB：Agent 工程兼容与思考压缩的阶段进展">
            <a:extLst xmlns:a="http://schemas.openxmlformats.org/drawingml/2006/main">
              <a:ext uri="{FF2B5EF4-FFF2-40B4-BE49-F238E27FC236}">
                <a16:creationId xmlns:a16="http://schemas.microsoft.com/office/drawing/2014/main" id="{AC73D374-2B73-489F-8991-998D854D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3668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DTB：Agent 工程兼容与思考压缩的阶段进展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AAD48463-CF55-4482-8B6F-9CE7DEF6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533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Qwen3.6-27B，9 个完整 Agent 任务">
            <a:extLst xmlns:a="http://schemas.openxmlformats.org/drawingml/2006/main">
              <a:ext uri="{FF2B5EF4-FFF2-40B4-BE49-F238E27FC236}">
                <a16:creationId xmlns:a16="http://schemas.microsoft.com/office/drawing/2014/main" id="{92CD956F-EC6F-42E0-B24E-8E5B5F0D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1285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Qwen3.6-27B，9 个完整 Agent 任务</a:t>
            </a:r>
          </a:p>
        </p:txBody>
      </p:sp>
      <p:sp>
        <p:nvSpPr>
          <p:cNvPr id="4" name="01  工程兼容">
            <a:extLst xmlns:a="http://schemas.openxmlformats.org/drawingml/2006/main">
              <a:ext uri="{FF2B5EF4-FFF2-40B4-BE49-F238E27FC236}">
                <a16:creationId xmlns:a16="http://schemas.microsoft.com/office/drawing/2014/main" id="{8F7C7422-0D00-4C60-BFF5-E00FEDEA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01  工程兼容</a:t>
            </a:r>
          </a:p>
        </p:txBody>
      </p:sp>
      <p:sp>
        <p:nvSpPr>
          <p:cNvPr id="5" name="内部多阶段生成保持一个完整回合&#10;修复工具流、停止边界与思考尾段">
            <a:extLst xmlns:a="http://schemas.openxmlformats.org/drawingml/2006/main">
              <a:ext uri="{FF2B5EF4-FFF2-40B4-BE49-F238E27FC236}">
                <a16:creationId xmlns:a16="http://schemas.microsoft.com/office/drawing/2014/main" id="{CA835D3A-9ADD-413C-9C0A-7E3D9EFB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9715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内部多阶段生成保持一个完整回合</a:t>
            </a:r>
          </a:p>
          <a:p xmlns:a="http://schemas.openxmlformats.org/drawingml/2006/main">
            <a:pPr>
              <a:defRPr sz="24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修复工具流、停止边界与思考尾段</a:t>
            </a:r>
          </a:p>
        </p:txBody>
      </p:sp>
      <p:sp>
        <p:nvSpPr>
          <p:cNvPr id="6" name="02  优化效果">
            <a:extLst xmlns:a="http://schemas.openxmlformats.org/drawingml/2006/main">
              <a:ext uri="{FF2B5EF4-FFF2-40B4-BE49-F238E27FC236}">
                <a16:creationId xmlns:a16="http://schemas.microsoft.com/office/drawing/2014/main" id="{328049B9-C921-4047-A2E9-EF340073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766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02  优化效果</a:t>
            </a:r>
          </a:p>
        </p:txBody>
      </p:sp>
      <p:sp>
        <p:nvSpPr>
          <p:cNvPr id="7" name="4/9 持平">
            <a:extLst xmlns:a="http://schemas.openxmlformats.org/drawingml/2006/main">
              <a:ext uri="{FF2B5EF4-FFF2-40B4-BE49-F238E27FC236}">
                <a16:creationId xmlns:a16="http://schemas.microsoft.com/office/drawing/2014/main" id="{1EA0C3E3-FE34-4391-9FEC-6CB8AA75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14725"/>
            <a:ext cx="3810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4/9 持平</a:t>
            </a:r>
          </a:p>
        </p:txBody>
      </p:sp>
      <p:sp>
        <p:nvSpPr>
          <p:cNvPr id="8" name="最终 DT 全通过任务数">
            <a:extLst xmlns:a="http://schemas.openxmlformats.org/drawingml/2006/main">
              <a:ext uri="{FF2B5EF4-FFF2-40B4-BE49-F238E27FC236}">
                <a16:creationId xmlns:a16="http://schemas.microsoft.com/office/drawing/2014/main" id="{9B3AE05F-74D4-46B1-9B0D-ECBB3986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95775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最终 DT 全通过任务数</a:t>
            </a:r>
          </a:p>
        </p:txBody>
      </p:sp>
      <p:sp>
        <p:nvSpPr>
          <p:cNvPr id="9" name="−11.57%">
            <a:extLst xmlns:a="http://schemas.openxmlformats.org/drawingml/2006/main">
              <a:ext uri="{FF2B5EF4-FFF2-40B4-BE49-F238E27FC236}">
                <a16:creationId xmlns:a16="http://schemas.microsoft.com/office/drawing/2014/main" id="{399FB51C-35BB-45DE-AE01-3AB66863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−11.57%</a:t>
            </a:r>
          </a:p>
        </p:txBody>
      </p:sp>
      <p:sp>
        <p:nvSpPr>
          <p:cNvPr id="10" name="累计 LLM 端到端耗时">
            <a:extLst xmlns:a="http://schemas.openxmlformats.org/drawingml/2006/main">
              <a:ext uri="{FF2B5EF4-FFF2-40B4-BE49-F238E27FC236}">
                <a16:creationId xmlns:a16="http://schemas.microsoft.com/office/drawing/2014/main" id="{C217DE53-18AD-491E-B487-78A6663C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9577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累计 LLM 端到端耗时</a:t>
            </a:r>
          </a:p>
        </p:txBody>
      </p:sp>
      <p:sp>
        <p:nvSpPr>
          <p:cNvPr id="11" name="可见 reasoning token 减少 23.70%">
            <a:extLst xmlns:a="http://schemas.openxmlformats.org/drawingml/2006/main">
              <a:ext uri="{FF2B5EF4-FFF2-40B4-BE49-F238E27FC236}">
                <a16:creationId xmlns:a16="http://schemas.microsoft.com/office/drawing/2014/main" id="{17A736A1-9F60-4C99-87C1-A19B2D2E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2442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可见 reasoning token 减少 23.70%</a:t>
            </a:r>
          </a:p>
        </p:txBody>
      </p:sp>
      <p:sp>
        <p:nvSpPr>
          <p:cNvPr id="12" name="03  泛化方向">
            <a:extLst xmlns:a="http://schemas.openxmlformats.org/drawingml/2006/main">
              <a:ext uri="{FF2B5EF4-FFF2-40B4-BE49-F238E27FC236}">
                <a16:creationId xmlns:a16="http://schemas.microsoft.com/office/drawing/2014/main" id="{4E419A56-12A6-4220-A9C9-8997A10A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10275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03  泛化方向</a:t>
            </a:r>
          </a:p>
        </p:txBody>
      </p:sp>
      <p:sp>
        <p:nvSpPr>
          <p:cNvPr id="13" name="面向更多存在冗余思考的模型&#10;协议适配与参数重标定后，验证质量和净时延">
            <a:extLst xmlns:a="http://schemas.openxmlformats.org/drawingml/2006/main">
              <a:ext uri="{FF2B5EF4-FFF2-40B4-BE49-F238E27FC236}">
                <a16:creationId xmlns:a16="http://schemas.microsoft.com/office/drawing/2014/main" id="{9F7A97AE-3D3A-4E25-9BE4-FC741258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90550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面向更多存在冗余思考的模型</a:t>
            </a:r>
          </a:p>
          <a:p xmlns:a="http://schemas.openxmlformats.org/drawingml/2006/main">
            <a:pPr>
              <a:def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协议适配与参数重标定后，验证质量和净时延</a:t>
            </a:r>
          </a:p>
        </p:txBody>
      </p:sp>
      <p:sp>
        <p:nvSpPr>
          <p:cNvPr id="14" name="实测主比较：Vanilla-06 / DTB run-08。4/9 含 Vani">
            <a:extLst xmlns:a="http://schemas.openxmlformats.org/drawingml/2006/main">
              <a:ext uri="{FF2B5EF4-FFF2-40B4-BE49-F238E27FC236}">
                <a16:creationId xmlns:a16="http://schemas.microsoft.com/office/drawing/2014/main" id="{6551FC23-CB16-4EAF-AF9B-1FF8E439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353300"/>
            <a:ext cx="1285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实测主比较：Vanilla-06 / DTB run-08。4/9 含 Vanilla 缺报告任务的原始测试证据，</a:t>
            </a:r>
          </a:p>
          <a:p xmlns:a="http://schemas.openxmlformats.org/drawingml/2006/main">
            <a:pPr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总通过率持平不代表逐任务非劣。跨模型收益尚待验证。</a:t>
            </a:r>
          </a:p>
        </p:txBody>
      </p:sp>
    </p:spTree>
    <p:extLst>
      <p:ext uri="{BB962C8B-B14F-4D97-AF65-F5344CB8AC3E}">
        <p14:creationId xmlns:p14="http://schemas.microsoft.com/office/powerpoint/2010/main" val="10797541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工程优化：内部切换保持原生输出契约">
            <a:extLst xmlns:a="http://schemas.openxmlformats.org/drawingml/2006/main">
              <a:ext uri="{FF2B5EF4-FFF2-40B4-BE49-F238E27FC236}">
                <a16:creationId xmlns:a16="http://schemas.microsoft.com/office/drawing/2014/main" id="{2A815B4D-C517-4EE5-B1B2-292ED93F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3668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工程优化：内部切换保持原生输出契约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5571AD82-A3AA-4004-97D0-5B2FDC57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533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核心约束：可以缩短思考，工具调用与 assistant 回合必须完整">
            <a:extLst xmlns:a="http://schemas.openxmlformats.org/drawingml/2006/main">
              <a:ext uri="{FF2B5EF4-FFF2-40B4-BE49-F238E27FC236}">
                <a16:creationId xmlns:a16="http://schemas.microsoft.com/office/drawing/2014/main" id="{028C2A28-8B34-42FE-A23A-CB6E9EA0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1333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核心约束：可以缩短思考，工具调用与 assistant 回合必须完整</a:t>
            </a:r>
          </a:p>
        </p:txBody>
      </p:sp>
      <p:sp>
        <p:nvSpPr>
          <p:cNvPr id="4" name="回合边界错位">
            <a:extLst xmlns:a="http://schemas.openxmlformats.org/drawingml/2006/main">
              <a:ext uri="{FF2B5EF4-FFF2-40B4-BE49-F238E27FC236}">
                <a16:creationId xmlns:a16="http://schemas.microsoft.com/office/drawing/2014/main" id="{53BE1601-D7D9-47E1-8533-6543F483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回合边界错位</a:t>
            </a:r>
          </a:p>
        </p:txBody>
      </p:sp>
      <p:sp>
        <p:nvSpPr>
          <p:cNvPr id="5" name="统一 think-end 与 tool-start 状态迁移&#10;保留源 termi">
            <a:extLst xmlns:a="http://schemas.openxmlformats.org/drawingml/2006/main">
              <a:ext uri="{FF2B5EF4-FFF2-40B4-BE49-F238E27FC236}">
                <a16:creationId xmlns:a16="http://schemas.microsoft.com/office/drawing/2014/main" id="{A3DA8B94-4292-49CB-829C-B144B7DE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05050"/>
            <a:ext cx="8905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统一 think-end 与 tool-start 状态迁移</a:t>
            </a:r>
          </a:p>
          <a:p xmlns:a="http://schemas.openxmlformats.org/drawingml/2006/main"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保留源 terminal，避免重新生成和 role 尾流</a:t>
            </a:r>
          </a:p>
        </p:txBody>
      </p:sp>
      <p:sp>
        <p:nvSpPr>
          <p:cNvPr id="6" name="工具前缀与 JSON 丢失">
            <a:extLst xmlns:a="http://schemas.openxmlformats.org/drawingml/2006/main">
              <a:ext uri="{FF2B5EF4-FFF2-40B4-BE49-F238E27FC236}">
                <a16:creationId xmlns:a16="http://schemas.microsoft.com/office/drawing/2014/main" id="{9EF9C7AE-AC28-4E08-A85C-3BAC94F3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工具前缀与 JSON 丢失</a:t>
            </a:r>
          </a:p>
        </p:txBody>
      </p:sp>
      <p:sp>
        <p:nvSpPr>
          <p:cNvPr id="7" name="对齐 text / token IDs，补齐合批收尾&#10;函数闭合后生成 canon">
            <a:extLst xmlns:a="http://schemas.openxmlformats.org/drawingml/2006/main">
              <a:ext uri="{FF2B5EF4-FFF2-40B4-BE49-F238E27FC236}">
                <a16:creationId xmlns:a16="http://schemas.microsoft.com/office/drawing/2014/main" id="{3DE6A8CC-EDEF-49BE-BD3A-893F1EE6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590925"/>
            <a:ext cx="8905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对齐 text / token IDs，补齐合批收尾</a:t>
            </a:r>
          </a:p>
          <a:p xmlns:a="http://schemas.openxmlformats.org/drawingml/2006/main"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函数闭合后生成 canonical JSON，连续解析多工具</a:t>
            </a:r>
          </a:p>
        </p:txBody>
      </p:sp>
      <p:sp>
        <p:nvSpPr>
          <p:cNvPr id="8" name="停止误伤与思考丢字">
            <a:extLst xmlns:a="http://schemas.openxmlformats.org/drawingml/2006/main">
              <a:ext uri="{FF2B5EF4-FFF2-40B4-BE49-F238E27FC236}">
                <a16:creationId xmlns:a16="http://schemas.microsoft.com/office/drawing/2014/main" id="{0DFA07F9-17D7-4DB5-A238-4AFC83B9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停止误伤与思考丢字</a:t>
            </a:r>
          </a:p>
        </p:txBody>
      </p:sp>
      <p:sp>
        <p:nvSpPr>
          <p:cNvPr id="9" name="结构 Token ID 区分边界与字面量&#10;final 恢复原 stop，reas">
            <a:extLst xmlns:a="http://schemas.openxmlformats.org/drawingml/2006/main">
              <a:ext uri="{FF2B5EF4-FFF2-40B4-BE49-F238E27FC236}">
                <a16:creationId xmlns:a16="http://schemas.microsoft.com/office/drawing/2014/main" id="{295DB62F-23C5-4590-A086-030F6F0A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6800"/>
            <a:ext cx="8905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结构 Token ID 区分边界与字面量</a:t>
            </a:r>
          </a:p>
          <a:p xmlns:a="http://schemas.openxmlformats.org/drawingml/2006/main"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final 恢复原 stop，reasoning parser 保留边界前正文</a:t>
            </a:r>
          </a:p>
        </p:txBody>
      </p:sp>
      <p:sp>
        <p:nvSpPr>
          <p:cNvPr id="10" name="120 条响应">
            <a:extLst xmlns:a="http://schemas.openxmlformats.org/drawingml/2006/main">
              <a:ext uri="{FF2B5EF4-FFF2-40B4-BE49-F238E27FC236}">
                <a16:creationId xmlns:a16="http://schemas.microsoft.com/office/drawing/2014/main" id="{6E3E3B4A-0A51-4BFE-AC74-839AF302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410325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120 条响应</a:t>
            </a:r>
          </a:p>
        </p:txBody>
      </p:sp>
      <p:sp>
        <p:nvSpPr>
          <p:cNvPr id="11" name="未检出工具流协议异常">
            <a:extLst xmlns:a="http://schemas.openxmlformats.org/drawingml/2006/main">
              <a:ext uri="{FF2B5EF4-FFF2-40B4-BE49-F238E27FC236}">
                <a16:creationId xmlns:a16="http://schemas.microsoft.com/office/drawing/2014/main" id="{FA568E4C-EB32-462D-AEC4-BDD8D698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038975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未检出工具流协议异常</a:t>
            </a:r>
          </a:p>
        </p:txBody>
      </p:sp>
      <p:sp>
        <p:nvSpPr>
          <p:cNvPr id="12" name="60 / 60 条 DTB">
            <a:extLst xmlns:a="http://schemas.openxmlformats.org/drawingml/2006/main">
              <a:ext uri="{FF2B5EF4-FFF2-40B4-BE49-F238E27FC236}">
                <a16:creationId xmlns:a16="http://schemas.microsoft.com/office/drawing/2014/main" id="{7F577531-B0BA-4BD8-9B8A-153EB32E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410325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60 / 60 条 DTB</a:t>
            </a:r>
          </a:p>
        </p:txBody>
      </p:sp>
      <p:sp>
        <p:nvSpPr>
          <p:cNvPr id="13" name="公开思考正文保真">
            <a:extLst xmlns:a="http://schemas.openxmlformats.org/drawingml/2006/main">
              <a:ext uri="{FF2B5EF4-FFF2-40B4-BE49-F238E27FC236}">
                <a16:creationId xmlns:a16="http://schemas.microsoft.com/office/drawing/2014/main" id="{5BA3CE28-89BE-4873-8A3A-C2DCBB44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03897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公开思考正文保真</a:t>
            </a:r>
          </a:p>
        </p:txBody>
      </p:sp>
      <p:sp>
        <p:nvSpPr>
          <p:cNvPr id="14" name="支持 MTP">
            <a:extLst xmlns:a="http://schemas.openxmlformats.org/drawingml/2006/main">
              <a:ext uri="{FF2B5EF4-FFF2-40B4-BE49-F238E27FC236}">
                <a16:creationId xmlns:a16="http://schemas.microsoft.com/office/drawing/2014/main" id="{FE0593C9-00F2-4153-87BB-D517E2D5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0325"/>
            <a:ext cx="319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支持 MTP</a:t>
            </a:r>
          </a:p>
        </p:txBody>
      </p:sp>
      <p:sp>
        <p:nvSpPr>
          <p:cNvPr id="15" name="兼容方案无需关闭投机解码">
            <a:extLst xmlns:a="http://schemas.openxmlformats.org/drawingml/2006/main">
              <a:ext uri="{FF2B5EF4-FFF2-40B4-BE49-F238E27FC236}">
                <a16:creationId xmlns:a16="http://schemas.microsoft.com/office/drawing/2014/main" id="{2B0D2E1B-1651-40F8-9D05-A2042DE4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038975"/>
            <a:ext cx="3905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兼容方案无需关闭投机解码</a:t>
            </a:r>
          </a:p>
        </p:txBody>
      </p:sp>
      <p:sp>
        <p:nvSpPr>
          <p:cNvPr id="16" name="定向回放覆盖固定历史上下文与短思考。协议通过与模型语义、任务质量分别验收。">
            <a:extLst xmlns:a="http://schemas.openxmlformats.org/drawingml/2006/main">
              <a:ext uri="{FF2B5EF4-FFF2-40B4-BE49-F238E27FC236}">
                <a16:creationId xmlns:a16="http://schemas.microsoft.com/office/drawing/2014/main" id="{968A9884-4B11-486D-8687-654CAF4D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867650"/>
            <a:ext cx="1295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定向回放覆盖固定历史上下文与短思考。协议通过与模型语义、任务质量分别验收。</a:t>
            </a:r>
          </a:p>
        </p:txBody>
      </p:sp>
    </p:spTree>
    <p:extLst>
      <p:ext uri="{BB962C8B-B14F-4D97-AF65-F5344CB8AC3E}">
        <p14:creationId xmlns:p14="http://schemas.microsoft.com/office/powerpoint/2010/main" val="2991494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累计 LLM 耗时下降 11.57%，总通过率持平">
            <a:extLst xmlns:a="http://schemas.openxmlformats.org/drawingml/2006/main">
              <a:ext uri="{FF2B5EF4-FFF2-40B4-BE49-F238E27FC236}">
                <a16:creationId xmlns:a16="http://schemas.microsoft.com/office/drawing/2014/main" id="{463587A1-66DE-4EEA-9A82-DBCADC92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3668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累计 LLM 耗时下降 11.57%，总通过率持平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FB94D825-CF54-420C-AE1B-AEB81BDA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533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Vanilla run-06 对 DTB run-08，全部 9 任务">
            <a:extLst xmlns:a="http://schemas.openxmlformats.org/drawingml/2006/main">
              <a:ext uri="{FF2B5EF4-FFF2-40B4-BE49-F238E27FC236}">
                <a16:creationId xmlns:a16="http://schemas.microsoft.com/office/drawing/2014/main" id="{40A3A893-E3C9-469C-9903-464CD814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1314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Vanilla run-06 对 DTB run-08，全部 9 任务</a:t>
            </a:r>
          </a:p>
        </p:txBody>
      </p:sp>
      <p:sp>
        <p:nvSpPr>
          <p:cNvPr id="4" name="累计 LLM E2E / 秒">
            <a:extLst xmlns:a="http://schemas.openxmlformats.org/drawingml/2006/main">
              <a:ext uri="{FF2B5EF4-FFF2-40B4-BE49-F238E27FC236}">
                <a16:creationId xmlns:a16="http://schemas.microsoft.com/office/drawing/2014/main" id="{5D91C5F8-7168-4116-B47C-4A430E02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05025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累计 LLM E2E / 秒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742950" y="2714625"/>
          <a:ext xmlns:a="http://schemas.openxmlformats.org/drawingml/2006/main" cx="7572375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137be5cbd84e77"/>
          </a:graphicData>
        </a:graphic>
      </p:graphicFrame>
      <p:sp>
        <p:nvSpPr>
          <p:cNvPr id="6" name="−335.758 秒">
            <a:extLst xmlns:a="http://schemas.openxmlformats.org/drawingml/2006/main">
              <a:ext uri="{FF2B5EF4-FFF2-40B4-BE49-F238E27FC236}">
                <a16:creationId xmlns:a16="http://schemas.microsoft.com/office/drawing/2014/main" id="{306E0DC6-7D05-4530-813B-82BB4FA3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171700"/>
            <a:ext cx="54768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−335.758 秒</a:t>
            </a:r>
          </a:p>
        </p:txBody>
      </p:sp>
      <p:sp>
        <p:nvSpPr>
          <p:cNvPr id="7" name="6 / 9 个任务的累计 LLM 耗时更短">
            <a:extLst xmlns:a="http://schemas.openxmlformats.org/drawingml/2006/main">
              <a:ext uri="{FF2B5EF4-FFF2-40B4-BE49-F238E27FC236}">
                <a16:creationId xmlns:a16="http://schemas.microsoft.com/office/drawing/2014/main" id="{949B1DAD-E571-4961-8505-2AF87A35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09900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6 / 9 个任务的累计 LLM 耗时更短</a:t>
            </a:r>
          </a:p>
        </p:txBody>
      </p:sp>
      <p:sp>
        <p:nvSpPr>
          <p:cNvPr id="8" name="4/9 与 4/9">
            <a:extLst xmlns:a="http://schemas.openxmlformats.org/drawingml/2006/main">
              <a:ext uri="{FF2B5EF4-FFF2-40B4-BE49-F238E27FC236}">
                <a16:creationId xmlns:a16="http://schemas.microsoft.com/office/drawing/2014/main" id="{2F7CB8A6-A974-4262-879D-FC8573BA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62400"/>
            <a:ext cx="523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4/9 与 4/9</a:t>
            </a:r>
          </a:p>
        </p:txBody>
      </p:sp>
      <p:sp>
        <p:nvSpPr>
          <p:cNvPr id="9" name="最终 DT 全通过任务数">
            <a:extLst xmlns:a="http://schemas.openxmlformats.org/drawingml/2006/main">
              <a:ext uri="{FF2B5EF4-FFF2-40B4-BE49-F238E27FC236}">
                <a16:creationId xmlns:a16="http://schemas.microsoft.com/office/drawing/2014/main" id="{BBB3C5F0-C8CC-4644-B25E-C5269075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最终 DT 全通过任务数</a:t>
            </a:r>
          </a:p>
        </p:txBody>
      </p:sp>
      <p:sp>
        <p:nvSpPr>
          <p:cNvPr id="10" name="52,112 降至 39,759">
            <a:extLst xmlns:a="http://schemas.openxmlformats.org/drawingml/2006/main">
              <a:ext uri="{FF2B5EF4-FFF2-40B4-BE49-F238E27FC236}">
                <a16:creationId xmlns:a16="http://schemas.microsoft.com/office/drawing/2014/main" id="{83B1E68C-91DA-45C0-BD15-E2C65596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429250"/>
            <a:ext cx="561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52,112 降至 39,759</a:t>
            </a:r>
          </a:p>
        </p:txBody>
      </p:sp>
      <p:sp>
        <p:nvSpPr>
          <p:cNvPr id="11" name="可见 reasoning token，减少 23.70%">
            <a:extLst xmlns:a="http://schemas.openxmlformats.org/drawingml/2006/main">
              <a:ext uri="{FF2B5EF4-FFF2-40B4-BE49-F238E27FC236}">
                <a16:creationId xmlns:a16="http://schemas.microsoft.com/office/drawing/2014/main" id="{9534CB67-85FE-48FC-B447-9D06823C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029325"/>
            <a:ext cx="561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可见 reasoning token，减少 23.70%</a:t>
            </a:r>
          </a:p>
        </p:txBody>
      </p:sp>
      <p:sp>
        <p:nvSpPr>
          <p:cNvPr id="12" name="平台执行时间合计减少 3.95%，创建到结束合计减少 2.17%。">
            <a:extLst xmlns:a="http://schemas.openxmlformats.org/drawingml/2006/main">
              <a:ext uri="{FF2B5EF4-FFF2-40B4-BE49-F238E27FC236}">
                <a16:creationId xmlns:a16="http://schemas.microsoft.com/office/drawing/2014/main" id="{409C537F-EC91-4810-9161-0C4D4C3C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181850"/>
            <a:ext cx="1352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平台执行时间合计减少 3.95%，创建到结束合计减少 2.17%。</a:t>
            </a:r>
          </a:p>
        </p:txBody>
      </p:sp>
      <p:sp>
        <p:nvSpPr>
          <p:cNvPr id="13" name="4/9 含 Vanilla case35 原始 36/36，仍缺报告。case3">
            <a:extLst xmlns:a="http://schemas.openxmlformats.org/drawingml/2006/main">
              <a:ext uri="{FF2B5EF4-FFF2-40B4-BE49-F238E27FC236}">
                <a16:creationId xmlns:a16="http://schemas.microsoft.com/office/drawing/2014/main" id="{13725303-5D55-4A5F-A7CC-10DA58EA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743825"/>
            <a:ext cx="1295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4/9 含 Vanilla case35 原始 36/36，仍缺报告。case36 退化、case2 改善。LLM 耗时含标题和恢复请求。</a:t>
            </a:r>
          </a:p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历史基线、未固定 seed，属实测差异；reasoning 不含隐藏试答，run-08 无 phase 账本。</a:t>
            </a:r>
          </a:p>
        </p:txBody>
      </p:sp>
    </p:spTree>
    <p:extLst>
      <p:ext uri="{BB962C8B-B14F-4D97-AF65-F5344CB8AC3E}">
        <p14:creationId xmlns:p14="http://schemas.microsoft.com/office/powerpoint/2010/main" val="14785336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已能汇报测试事实，DTB 停止后续重复推敲">
            <a:extLst xmlns:a="http://schemas.openxmlformats.org/drawingml/2006/main">
              <a:ext uri="{FF2B5EF4-FFF2-40B4-BE49-F238E27FC236}">
                <a16:creationId xmlns:a16="http://schemas.microsoft.com/office/drawing/2014/main" id="{5DB19868-B1E1-4D66-8387-E938DDCD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3668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已能汇报测试事实，DTB 停止后续重复推敲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A4EAB0F0-6B3A-4CE1-A1DF-95457EA3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533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case37：原始思考文本与批注">
            <a:extLst xmlns:a="http://schemas.openxmlformats.org/drawingml/2006/main">
              <a:ext uri="{FF2B5EF4-FFF2-40B4-BE49-F238E27FC236}">
                <a16:creationId xmlns:a16="http://schemas.microsoft.com/office/drawing/2014/main" id="{9881760D-5227-4461-8B00-CCFE4458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19225"/>
            <a:ext cx="695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case37：原始思考文本与批注</a:t>
            </a:r>
          </a:p>
        </p:txBody>
      </p:sp>
      <p:sp>
        <p:nvSpPr>
          <p:cNvPr id="4" name="原文节选；[…] 为省略，彩色文字为分析标注">
            <a:extLst xmlns:a="http://schemas.openxmlformats.org/drawingml/2006/main">
              <a:ext uri="{FF2B5EF4-FFF2-40B4-BE49-F238E27FC236}">
                <a16:creationId xmlns:a16="http://schemas.microsoft.com/office/drawing/2014/main" id="{A0E18136-9809-463A-A00D-3C1741B9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700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原文节选；[…] 为省略，彩色文字为分析标注</a:t>
            </a:r>
          </a:p>
        </p:txBody>
      </p:sp>
      <p:sp>
        <p:nvSpPr>
          <p:cNvPr id="5" name="I see the results:&#10;- Tests run: 3&#10;- Fail">
            <a:extLst xmlns:a="http://schemas.openxmlformats.org/drawingml/2006/main">
              <a:ext uri="{FF2B5EF4-FFF2-40B4-BE49-F238E27FC236}">
                <a16:creationId xmlns:a16="http://schemas.microsoft.com/office/drawing/2014/main" id="{29270175-E1A6-4940-A8E0-906B84FA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4333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I see the results:</a:t>
            </a:r>
          </a:p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- </a:t>
            </a:r>
            <a:r>
              <a:rPr sz="18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Tests run: 3</a:t>
            </a:r>
          </a:p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- </a:t>
            </a:r>
            <a:r>
              <a:rPr sz="18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Failures: 1</a:t>
            </a: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[…]</a:t>
            </a:r>
          </a:p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- </a:t>
            </a:r>
            <a:r>
              <a:rPr sz="18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2 tests passed</a:t>
            </a: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: […]</a:t>
            </a:r>
          </a:p>
        </p:txBody>
      </p:sp>
      <p:sp>
        <p:nvSpPr>
          <p:cNvPr id="6" name="① 汇报事实已齐备">
            <a:extLst xmlns:a="http://schemas.openxmlformats.org/drawingml/2006/main">
              <a:ext uri="{FF2B5EF4-FFF2-40B4-BE49-F238E27FC236}">
                <a16:creationId xmlns:a16="http://schemas.microsoft.com/office/drawing/2014/main" id="{963EA962-B560-4258-A850-D81BFD08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466975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① 汇报事实已齐备</a:t>
            </a:r>
          </a:p>
        </p:txBody>
      </p:sp>
      <p:sp>
        <p:nvSpPr>
          <p:cNvPr id="7" name="3 条测试，1 条失败&#10;2 条通过">
            <a:extLst xmlns:a="http://schemas.openxmlformats.org/drawingml/2006/main">
              <a:ext uri="{FF2B5EF4-FFF2-40B4-BE49-F238E27FC236}">
                <a16:creationId xmlns:a16="http://schemas.microsoft.com/office/drawing/2014/main" id="{9A6E19D8-0266-420C-9082-EE11F3A8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924175"/>
            <a:ext cx="2714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 条测试，1 条失败</a:t>
            </a:r>
          </a:p>
          <a:p xmlns:a="http://schemas.openxmlformats.org/drawingml/2006/main">
            <a:pPr>
              <a:def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 条通过</a:t>
            </a:r>
          </a:p>
        </p:txBody>
      </p:sp>
      <p:sp>
        <p:nvSpPr>
          <p:cNvPr id="8" name="[省略原文中重列的 31 项索引]">
            <a:extLst xmlns:a="http://schemas.openxmlformats.org/drawingml/2006/main">
              <a:ext uri="{FF2B5EF4-FFF2-40B4-BE49-F238E27FC236}">
                <a16:creationId xmlns:a16="http://schemas.microsoft.com/office/drawing/2014/main" id="{93049EC2-C0D0-4ABD-9F6D-403CF8BF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4524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[省略原文中重列的 31 项索引]</a:t>
            </a:r>
          </a:p>
        </p:txBody>
      </p:sp>
      <p:sp>
        <p:nvSpPr>
          <p:cNvPr id="9" name="Let me count:&#10;That's 31 indices total">
            <a:extLst xmlns:a="http://schemas.openxmlformats.org/drawingml/2006/main">
              <a:ext uri="{FF2B5EF4-FFF2-40B4-BE49-F238E27FC236}">
                <a16:creationId xmlns:a16="http://schemas.microsoft.com/office/drawing/2014/main" id="{461C31F0-5F52-4584-AB16-D50D9E29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433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Let me count:</a:t>
            </a:r>
          </a:p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That's </a:t>
            </a:r>
            <a:r>
              <a:rPr sz="187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31 indices total</a:t>
            </a:r>
          </a:p>
        </p:txBody>
      </p:sp>
      <p:sp>
        <p:nvSpPr>
          <p:cNvPr id="10" name="② 再次计数">
            <a:extLst xmlns:a="http://schemas.openxmlformats.org/drawingml/2006/main">
              <a:ext uri="{FF2B5EF4-FFF2-40B4-BE49-F238E27FC236}">
                <a16:creationId xmlns:a16="http://schemas.microsoft.com/office/drawing/2014/main" id="{8E5EC47C-0A57-4768-B11C-61A0D6B4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162425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② 再次计数</a:t>
            </a:r>
          </a:p>
        </p:txBody>
      </p:sp>
      <p:sp>
        <p:nvSpPr>
          <p:cNvPr id="11" name="没有新增工具证据">
            <a:extLst xmlns:a="http://schemas.openxmlformats.org/drawingml/2006/main">
              <a:ext uri="{FF2B5EF4-FFF2-40B4-BE49-F238E27FC236}">
                <a16:creationId xmlns:a16="http://schemas.microsoft.com/office/drawing/2014/main" id="{15E50C41-2473-45FF-8C0A-B320A101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572000"/>
            <a:ext cx="2714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没有新增工具证据</a:t>
            </a:r>
          </a:p>
        </p:txBody>
      </p:sp>
      <p:sp>
        <p:nvSpPr>
          <p:cNvPr id="12" name="But then the count should be 34,&#10;not 32 ">
            <a:extLst xmlns:a="http://schemas.openxmlformats.org/drawingml/2006/main">
              <a:ext uri="{FF2B5EF4-FFF2-40B4-BE49-F238E27FC236}">
                <a16:creationId xmlns:a16="http://schemas.microsoft.com/office/drawing/2014/main" id="{AE6F5959-E571-4460-8195-56949822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24450"/>
            <a:ext cx="4333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But then the count should be </a:t>
            </a:r>
            <a:r>
              <a:rPr sz="187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34</a:t>
            </a: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,</a:t>
            </a:r>
          </a:p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not </a:t>
            </a:r>
            <a:r>
              <a:rPr sz="187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32</a:t>
            </a: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[…]</a:t>
            </a:r>
          </a:p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I'm getting </a:t>
            </a:r>
            <a:r>
              <a:rPr sz="187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31 items total</a:t>
            </a: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[…]</a:t>
            </a:r>
          </a:p>
        </p:txBody>
      </p:sp>
      <p:sp>
        <p:nvSpPr>
          <p:cNvPr id="13" name="③ 继续反复推敲">
            <a:extLst xmlns:a="http://schemas.openxmlformats.org/drawingml/2006/main">
              <a:ext uri="{FF2B5EF4-FFF2-40B4-BE49-F238E27FC236}">
                <a16:creationId xmlns:a16="http://schemas.microsoft.com/office/drawing/2014/main" id="{60CD833D-F5F5-4F54-86E7-63BEC038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181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③ 继续反复推敲</a:t>
            </a:r>
          </a:p>
        </p:txBody>
      </p:sp>
      <p:sp>
        <p:nvSpPr>
          <p:cNvPr id="14" name="31 / 34 / 32 来回计数&#10;根因尚未证实">
            <a:extLst xmlns:a="http://schemas.openxmlformats.org/drawingml/2006/main">
              <a:ext uri="{FF2B5EF4-FFF2-40B4-BE49-F238E27FC236}">
                <a16:creationId xmlns:a16="http://schemas.microsoft.com/office/drawing/2014/main" id="{56F54B23-6E75-49BD-9716-42CA3154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600700"/>
            <a:ext cx="2714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31 / 34 / 32 来回计数</a:t>
            </a:r>
          </a:p>
          <a:p xmlns:a="http://schemas.openxmlformats.org/drawingml/2006/main">
            <a:pPr>
              <a:def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根因尚未证实</a:t>
            </a:r>
          </a:p>
        </p:txBody>
      </p:sp>
      <p:sp>
        <p:nvSpPr>
          <p:cNvPr id="15" name="850 token 介入，首 probe 接受">
            <a:extLst xmlns:a="http://schemas.openxmlformats.org/drawingml/2006/main">
              <a:ext uri="{FF2B5EF4-FFF2-40B4-BE49-F238E27FC236}">
                <a16:creationId xmlns:a16="http://schemas.microsoft.com/office/drawing/2014/main" id="{2E028107-A9AC-4FF3-8479-06E99DB2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60082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850 token 介入，首 probe 接受</a:t>
            </a:r>
          </a:p>
        </p:txBody>
      </p:sp>
      <p:sp>
        <p:nvSpPr>
          <p:cNvPr id="16" name="50-token 试答 .904 ≥ .90，转入 final&#10;保留 2/3 测">
            <a:extLst xmlns:a="http://schemas.openxmlformats.org/drawingml/2006/main">
              <a:ext uri="{FF2B5EF4-FFF2-40B4-BE49-F238E27FC236}">
                <a16:creationId xmlns:a16="http://schemas.microsoft.com/office/drawing/2014/main" id="{9D8C9454-DF3A-4BC6-A621-A377970D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124700"/>
            <a:ext cx="7191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50-token 试答 .904 ≥ .90，转入 final</a:t>
            </a:r>
          </a:p>
          <a:p xmlns:a="http://schemas.openxmlformats.org/drawingml/2006/main">
            <a:pPr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保留 2/3 测试事实，继续创建报告目录</a:t>
            </a:r>
          </a:p>
        </p:txBody>
      </p:sp>
      <p:sp>
        <p:nvSpPr>
          <p:cNvPr id="17" name="思考长度分布与 token 成本">
            <a:extLst xmlns:a="http://schemas.openxmlformats.org/drawingml/2006/main">
              <a:ext uri="{FF2B5EF4-FFF2-40B4-BE49-F238E27FC236}">
                <a16:creationId xmlns:a16="http://schemas.microsoft.com/office/drawing/2014/main" id="{32A59DAE-B596-480F-8BB8-1A71DFBE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41922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思考长度分布与 token 成本</a:t>
            </a:r>
          </a:p>
        </p:txBody>
      </p:sp>
      <p:sp>
        <p:nvSpPr>
          <p:cNvPr id="18" name="Vanilla-06，391 条有效请求，52,112 reasoning to">
            <a:extLst xmlns:a="http://schemas.openxmlformats.org/drawingml/2006/main">
              <a:ext uri="{FF2B5EF4-FFF2-40B4-BE49-F238E27FC236}">
                <a16:creationId xmlns:a16="http://schemas.microsoft.com/office/drawing/2014/main" id="{0A543305-4577-4D39-A662-6F619C36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95475"/>
            <a:ext cx="6238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Vanilla-06，391 条有效请求，52,112 reasoning token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8181975" y="2552700"/>
          <a:ext xmlns:a="http://schemas.openxmlformats.org/drawingml/2006/main" cx="6486525" cy="33432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7fa6af39a50481d"/>
          </a:graphicData>
        </a:graphic>
      </p:graphicFrame>
      <p:sp>
        <p:nvSpPr>
          <p:cNvPr id="20" name="分档单位：token；请求数依次为 128 / 224 / 28 / 11">
            <a:extLst xmlns:a="http://schemas.openxmlformats.org/drawingml/2006/main">
              <a:ext uri="{FF2B5EF4-FFF2-40B4-BE49-F238E27FC236}">
                <a16:creationId xmlns:a16="http://schemas.microsoft.com/office/drawing/2014/main" id="{C2B45EC0-48A8-4E7E-BEC9-62856827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5876925"/>
            <a:ext cx="6210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分档单位：token；请求数依次为 128 / 224 / 28 / 11</a:t>
            </a:r>
          </a:p>
        </p:txBody>
      </p:sp>
      <p:sp>
        <p:nvSpPr>
          <p:cNvPr id="21" name="2.81% 的长尾请求&#10;占 38.88% 的 reasoning token">
            <a:extLst xmlns:a="http://schemas.openxmlformats.org/drawingml/2006/main">
              <a:ext uri="{FF2B5EF4-FFF2-40B4-BE49-F238E27FC236}">
                <a16:creationId xmlns:a16="http://schemas.microsoft.com/office/drawing/2014/main" id="{AA064FB0-0D6B-4C29-AEB7-85B9B3E1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343650"/>
            <a:ext cx="6381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2.81% 的长尾请求</a:t>
            </a:r>
          </a:p>
          <a:p xmlns:a="http://schemas.openxmlformats.org/drawingml/2006/main">
            <a:pPr>
              <a:defRPr sz="27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占 38.88% 的 reasoning token</a:t>
            </a:r>
          </a:p>
        </p:txBody>
      </p:sp>
      <p:sp>
        <p:nvSpPr>
          <p:cNvPr id="22" name="短请求原生完成，长请求才试答&#10;独立 closed 账本：97.25%（354/3">
            <a:extLst xmlns:a="http://schemas.openxmlformats.org/drawingml/2006/main">
              <a:ext uri="{FF2B5EF4-FFF2-40B4-BE49-F238E27FC236}">
                <a16:creationId xmlns:a16="http://schemas.microsoft.com/office/drawing/2014/main" id="{5C9F53F4-9C3B-4CDF-821E-FECCB792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7362825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短请求原生完成，长请求才试答</a:t>
            </a:r>
          </a:p>
          <a:p xmlns:a="http://schemas.openxmlformats.org/drawingml/2006/main">
            <a:pPr>
              <a:defRPr sz="16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独立 closed 账本：97.25%（354/364）同 child 完成</a:t>
            </a:r>
          </a:p>
        </p:txBody>
      </p:sp>
      <p:sp>
        <p:nvSpPr>
          <p:cNvPr id="23" name="案例来自 run-06-closed，分析针对汇报子目标，试答分数不是正确概率。">
            <a:extLst xmlns:a="http://schemas.openxmlformats.org/drawingml/2006/main">
              <a:ext uri="{FF2B5EF4-FFF2-40B4-BE49-F238E27FC236}">
                <a16:creationId xmlns:a16="http://schemas.microsoft.com/office/drawing/2014/main" id="{04856F38-45CB-41FF-BB23-D97DEC2F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105775"/>
            <a:ext cx="12811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案例来自 run-06-closed，分析针对汇报子目标，试答分数不是正确概率。11 条长尾中 9 条为标题；closed 旁路比例不代表 run-08。</a:t>
            </a:r>
          </a:p>
        </p:txBody>
      </p:sp>
    </p:spTree>
    <p:extLst>
      <p:ext uri="{BB962C8B-B14F-4D97-AF65-F5344CB8AC3E}">
        <p14:creationId xmlns:p14="http://schemas.microsoft.com/office/powerpoint/2010/main" val="11878656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2026-09-14T06:16:54.6580000Z</dcterms:created>
  <dcterms:modified xsi:type="dcterms:W3CDTF">2026-09-14T06:16:54.6580000Z</dcterms:modified>
</coreProperties>
</file>